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580"/>
    <a:srgbClr val="1A1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sz="6000" dirty="0" err="1"/>
              <a:t>Analisis</a:t>
            </a:r>
            <a:r>
              <a:rPr sz="6000" dirty="0"/>
              <a:t> de </a:t>
            </a:r>
            <a:r>
              <a:rPr sz="6000" dirty="0" err="1"/>
              <a:t>Resenas</a:t>
            </a:r>
            <a:endParaRPr sz="600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E870"/>
                </a:solidFill>
              </a:defRPr>
            </a:pPr>
            <a:r>
              <a:rPr sz="3600" b="1" dirty="0">
                <a:solidFill>
                  <a:srgbClr val="B5E580"/>
                </a:solidFill>
              </a:rPr>
              <a:t>Wise.com </a:t>
            </a:r>
            <a:r>
              <a:rPr sz="3600" b="1" dirty="0" err="1">
                <a:solidFill>
                  <a:srgbClr val="B5E580"/>
                </a:solidFill>
              </a:rPr>
              <a:t>en</a:t>
            </a:r>
            <a:r>
              <a:rPr sz="3600" b="1" dirty="0">
                <a:solidFill>
                  <a:srgbClr val="B5E580"/>
                </a:solidFill>
              </a:rPr>
              <a:t> Trustpilot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Sector: Money &amp; Insurance  |  Dataset: Trustpilot Reviews 123k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Deep Learning - Proyecto de Modulo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4075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3C9F"/>
                </a:solidFill>
              </a:defRPr>
            </a:pPr>
            <a:r>
              <a:rPr dirty="0" err="1"/>
              <a:t>Objetivos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1881400"/>
            <a:ext cx="506870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  <a:defRPr sz="1600" b="0">
                <a:solidFill>
                  <a:srgbClr val="333333"/>
                </a:solidFill>
              </a:defRPr>
            </a:pPr>
            <a:r>
              <a:rPr lang="en-US" dirty="0" err="1"/>
              <a:t>Sentimiento</a:t>
            </a:r>
            <a:r>
              <a:rPr lang="en-US" dirty="0"/>
              <a:t> global de Wise: ¿</a:t>
            </a:r>
            <a:r>
              <a:rPr lang="en-US" dirty="0" err="1"/>
              <a:t>positivo</a:t>
            </a:r>
            <a:r>
              <a:rPr lang="en-US" dirty="0"/>
              <a:t> o </a:t>
            </a:r>
            <a:r>
              <a:rPr lang="en-US" dirty="0" err="1"/>
              <a:t>negativo</a:t>
            </a:r>
            <a:r>
              <a:rPr lang="en-US" dirty="0"/>
              <a:t>?</a:t>
            </a:r>
          </a:p>
          <a:p>
            <a:pPr marL="342900" indent="-342900">
              <a:buAutoNum type="arabicPeriod"/>
              <a:defRPr sz="1600" b="0">
                <a:solidFill>
                  <a:srgbClr val="333333"/>
                </a:solidFill>
              </a:defRPr>
            </a:pPr>
            <a:endParaRPr lang="en-US" dirty="0"/>
          </a:p>
          <a:p>
            <a:pPr marL="342900" indent="-342900">
              <a:buFontTx/>
              <a:buAutoNum type="arabicPeriod"/>
              <a:defRPr sz="1600" b="0">
                <a:solidFill>
                  <a:srgbClr val="333333"/>
                </a:solidFill>
              </a:defRPr>
            </a:pPr>
            <a:r>
              <a:rPr lang="es-ES" dirty="0"/>
              <a:t>¿Qué temas tratan las </a:t>
            </a:r>
            <a:r>
              <a:rPr lang="es-ES" dirty="0" err="1"/>
              <a:t>resenas</a:t>
            </a:r>
            <a:r>
              <a:rPr lang="es-ES" dirty="0"/>
              <a:t>?</a:t>
            </a:r>
          </a:p>
          <a:p>
            <a:pPr marL="342900" indent="-342900">
              <a:buAutoNum type="arabicPeriod"/>
              <a:defRPr sz="1600" b="0">
                <a:solidFill>
                  <a:srgbClr val="333333"/>
                </a:solidFill>
              </a:defRPr>
            </a:pPr>
            <a:endParaRPr lang="es-ES" dirty="0"/>
          </a:p>
          <a:p>
            <a:pPr marL="342900" indent="-342900">
              <a:buAutoNum type="arabicPeriod"/>
              <a:defRPr sz="1600" b="0">
                <a:solidFill>
                  <a:srgbClr val="333333"/>
                </a:solidFill>
              </a:defRPr>
            </a:pPr>
            <a:r>
              <a:rPr lang="es-ES" dirty="0"/>
              <a:t>Sentimiento por tema: ¿dónde ganamos y donde perdemos?</a:t>
            </a:r>
            <a:endParaRPr lang="en-US" dirty="0"/>
          </a:p>
          <a:p>
            <a:pPr marL="342900" indent="-342900">
              <a:buAutoNum type="arabicPeriod"/>
              <a:defRPr sz="1600" b="0">
                <a:solidFill>
                  <a:srgbClr val="333333"/>
                </a:solidFill>
              </a:defRPr>
            </a:pPr>
            <a:endParaRPr lang="en-US" dirty="0"/>
          </a:p>
          <a:p>
            <a:pPr marL="342900" indent="-342900">
              <a:buAutoNum type="arabicPeriod"/>
              <a:defRPr sz="1600" b="0">
                <a:solidFill>
                  <a:srgbClr val="333333"/>
                </a:solidFill>
              </a:defRPr>
            </a:pPr>
            <a:r>
              <a:rPr lang="es-ES" dirty="0"/>
              <a:t>Á</a:t>
            </a:r>
            <a:r>
              <a:rPr dirty="0" err="1"/>
              <a:t>reas</a:t>
            </a:r>
            <a:r>
              <a:rPr dirty="0"/>
              <a:t> de </a:t>
            </a:r>
            <a:r>
              <a:rPr dirty="0" err="1"/>
              <a:t>mejora</a:t>
            </a:r>
            <a:r>
              <a:rPr dirty="0"/>
              <a:t> </a:t>
            </a:r>
            <a:r>
              <a:rPr dirty="0" err="1"/>
              <a:t>concretas</a:t>
            </a:r>
            <a:r>
              <a:rPr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3C9F"/>
                </a:solidFill>
              </a:defRPr>
            </a:pPr>
            <a:r>
              <a:rPr dirty="0" err="1"/>
              <a:t>Metodologia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228573" y="1881400"/>
            <a:ext cx="48463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3333"/>
                </a:solidFill>
              </a:defRPr>
            </a:pPr>
            <a:r>
              <a:rPr lang="en-US" dirty="0"/>
              <a:t>Dataset: 100 </a:t>
            </a:r>
            <a:r>
              <a:rPr lang="en-US" dirty="0" err="1"/>
              <a:t>resenas</a:t>
            </a:r>
            <a:r>
              <a:rPr lang="en-US" dirty="0"/>
              <a:t> de Wise + 5.729 del sector</a:t>
            </a:r>
          </a:p>
          <a:p>
            <a:pPr algn="l">
              <a:defRPr sz="1600" b="0">
                <a:solidFill>
                  <a:srgbClr val="333333"/>
                </a:solidFill>
              </a:defRPr>
            </a:pPr>
            <a:endParaRPr lang="es-ES" dirty="0"/>
          </a:p>
          <a:p>
            <a:pPr algn="l">
              <a:defRPr sz="1600" b="0">
                <a:solidFill>
                  <a:srgbClr val="333333"/>
                </a:solidFill>
              </a:defRPr>
            </a:pPr>
            <a:r>
              <a:rPr dirty="0" err="1"/>
              <a:t>Comparativa</a:t>
            </a:r>
            <a:r>
              <a:rPr dirty="0"/>
              <a:t>: 69 </a:t>
            </a:r>
            <a:r>
              <a:rPr dirty="0" err="1"/>
              <a:t>empresas</a:t>
            </a:r>
            <a:r>
              <a:rPr dirty="0"/>
              <a:t> de Money &amp; Insurance</a:t>
            </a:r>
            <a:endParaRPr lang="es-ES" dirty="0"/>
          </a:p>
          <a:p>
            <a:pPr algn="l">
              <a:defRPr sz="1600" b="0">
                <a:solidFill>
                  <a:srgbClr val="333333"/>
                </a:solidFill>
              </a:defRPr>
            </a:pPr>
            <a:endParaRPr lang="es-ES" dirty="0"/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rPr lang="es-ES" dirty="0"/>
              <a:t>Sentimiento: BERT (</a:t>
            </a:r>
            <a:r>
              <a:rPr lang="es-ES" dirty="0" err="1"/>
              <a:t>nlptown</a:t>
            </a:r>
            <a:r>
              <a:rPr lang="es-ES" dirty="0"/>
              <a:t>, 1-5 estrellas)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endParaRPr lang="es-ES" dirty="0"/>
          </a:p>
          <a:p>
            <a:pPr>
              <a:defRPr sz="1600" b="0">
                <a:solidFill>
                  <a:srgbClr val="333333"/>
                </a:solidFill>
              </a:defRPr>
            </a:pPr>
            <a:r>
              <a:rPr lang="es-ES" dirty="0"/>
              <a:t>Sentimiento: BERT (</a:t>
            </a:r>
            <a:r>
              <a:rPr lang="es-ES" dirty="0" err="1"/>
              <a:t>nlptown</a:t>
            </a:r>
            <a:r>
              <a:rPr lang="es-ES" dirty="0"/>
              <a:t>, 1-5 estrellas)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74A2824-A04F-4C02-8380-11E0439F8D72}"/>
              </a:ext>
            </a:extLst>
          </p:cNvPr>
          <p:cNvSpPr/>
          <p:nvPr/>
        </p:nvSpPr>
        <p:spPr>
          <a:xfrm>
            <a:off x="0" y="-1"/>
            <a:ext cx="12192000" cy="994299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5822A4C-3772-4DCC-9FBF-5489EFD4A930}"/>
              </a:ext>
            </a:extLst>
          </p:cNvPr>
          <p:cNvSpPr txBox="1"/>
          <p:nvPr/>
        </p:nvSpPr>
        <p:spPr>
          <a:xfrm>
            <a:off x="453205" y="173982"/>
            <a:ext cx="5220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B5E580"/>
                </a:solidFill>
              </a:rPr>
              <a:t>Objetivos</a:t>
            </a:r>
            <a:r>
              <a:rPr lang="en-US" sz="3600" b="1" dirty="0">
                <a:solidFill>
                  <a:srgbClr val="B5E580"/>
                </a:solidFill>
              </a:rPr>
              <a:t> y </a:t>
            </a:r>
            <a:r>
              <a:rPr lang="en-US" sz="3600" b="1" dirty="0" err="1">
                <a:solidFill>
                  <a:srgbClr val="B5E580"/>
                </a:solidFill>
              </a:rPr>
              <a:t>Metodología</a:t>
            </a:r>
            <a:endParaRPr lang="en-US" sz="3600" dirty="0">
              <a:solidFill>
                <a:srgbClr val="B5E58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3C9F"/>
                </a:solidFill>
              </a:defRPr>
            </a:pPr>
            <a:r>
              <a:t>Hallazgos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737360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rPr lang="es-ES" dirty="0"/>
              <a:t>49</a:t>
            </a:r>
            <a:r>
              <a:rPr dirty="0"/>
              <a:t>% de las rese</a:t>
            </a:r>
            <a:r>
              <a:rPr lang="es-ES" dirty="0"/>
              <a:t>ñ</a:t>
            </a:r>
            <a:r>
              <a:rPr dirty="0"/>
              <a:t>as son NEGATIVAS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148840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rPr dirty="0"/>
              <a:t>Solo 3</a:t>
            </a:r>
            <a:r>
              <a:rPr lang="es-ES" dirty="0"/>
              <a:t>5</a:t>
            </a:r>
            <a:r>
              <a:rPr dirty="0"/>
              <a:t>% son </a:t>
            </a:r>
            <a:r>
              <a:rPr dirty="0" err="1"/>
              <a:t>positivas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583680" y="2560320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rPr dirty="0"/>
              <a:t>1</a:t>
            </a:r>
            <a:r>
              <a:rPr lang="es-ES" dirty="0"/>
              <a:t>6</a:t>
            </a:r>
            <a:r>
              <a:rPr dirty="0"/>
              <a:t>% </a:t>
            </a:r>
            <a:r>
              <a:rPr dirty="0" err="1"/>
              <a:t>neutras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583680" y="2971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3383280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rPr dirty="0"/>
              <a:t>El </a:t>
            </a:r>
            <a:r>
              <a:rPr dirty="0" err="1"/>
              <a:t>sentimiento</a:t>
            </a:r>
            <a:r>
              <a:rPr dirty="0"/>
              <a:t> </a:t>
            </a:r>
            <a:r>
              <a:rPr dirty="0" err="1"/>
              <a:t>negativo</a:t>
            </a:r>
            <a:r>
              <a:rPr dirty="0"/>
              <a:t> </a:t>
            </a:r>
            <a:r>
              <a:rPr dirty="0" err="1"/>
              <a:t>domina</a:t>
            </a:r>
            <a:r>
              <a:rPr lang="es-ES" dirty="0"/>
              <a:t> claramente en </a:t>
            </a:r>
            <a:r>
              <a:rPr lang="es-ES" dirty="0" err="1"/>
              <a:t>Wise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576734" y="539646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74C3C"/>
                </a:solidFill>
              </a:defRPr>
            </a:pPr>
            <a:r>
              <a:rPr lang="en-US" dirty="0"/>
              <a:t>49% </a:t>
            </a:r>
            <a:r>
              <a:rPr lang="en-US" dirty="0" err="1"/>
              <a:t>Negativo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62001" y="539646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</a:defRPr>
            </a:pPr>
            <a:r>
              <a:rPr dirty="0"/>
              <a:t>3</a:t>
            </a:r>
            <a:r>
              <a:rPr lang="es-ES" dirty="0"/>
              <a:t>5</a:t>
            </a:r>
            <a:r>
              <a:rPr dirty="0"/>
              <a:t>% </a:t>
            </a:r>
            <a:r>
              <a:rPr dirty="0" err="1"/>
              <a:t>Positivo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669368" y="539646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rPr dirty="0"/>
              <a:t>1</a:t>
            </a:r>
            <a:r>
              <a:rPr lang="es-ES" dirty="0"/>
              <a:t>6</a:t>
            </a:r>
            <a:r>
              <a:rPr dirty="0"/>
              <a:t>% </a:t>
            </a:r>
            <a:r>
              <a:rPr dirty="0" err="1"/>
              <a:t>Neutro</a:t>
            </a:r>
            <a:endParaRPr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45CFD4E-7EAC-4D89-AA01-205A268FE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29556"/>
            <a:ext cx="4876801" cy="3633403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9691B0FF-BEC7-4C50-AEC5-DEA13EC2B123}"/>
              </a:ext>
            </a:extLst>
          </p:cNvPr>
          <p:cNvSpPr/>
          <p:nvPr/>
        </p:nvSpPr>
        <p:spPr>
          <a:xfrm>
            <a:off x="0" y="-1"/>
            <a:ext cx="12192000" cy="994299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F40A9BB-903E-4286-9254-27E2108DAC76}"/>
              </a:ext>
            </a:extLst>
          </p:cNvPr>
          <p:cNvSpPr txBox="1"/>
          <p:nvPr/>
        </p:nvSpPr>
        <p:spPr>
          <a:xfrm>
            <a:off x="453205" y="173982"/>
            <a:ext cx="5220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B5E580"/>
                </a:solidFill>
              </a:rPr>
              <a:t>Sentimiento</a:t>
            </a:r>
            <a:r>
              <a:rPr lang="en-US" sz="3600" b="1" dirty="0">
                <a:solidFill>
                  <a:srgbClr val="B5E580"/>
                </a:solidFill>
              </a:rPr>
              <a:t> Global - Wise</a:t>
            </a:r>
            <a:endParaRPr lang="en-US" sz="3600" dirty="0">
              <a:solidFill>
                <a:srgbClr val="B5E58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24151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3C9F"/>
                </a:solidFill>
              </a:defRPr>
            </a:pPr>
            <a:r>
              <a:t>Posicion de Wise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07031" y="1920240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rPr dirty="0" err="1"/>
              <a:t>Puesto</a:t>
            </a:r>
            <a:r>
              <a:rPr dirty="0"/>
              <a:t> </a:t>
            </a:r>
            <a:r>
              <a:rPr lang="es-ES" dirty="0"/>
              <a:t>53 de 70 </a:t>
            </a:r>
            <a:r>
              <a:rPr dirty="0" err="1"/>
              <a:t>empresas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807031" y="2331720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rPr dirty="0"/>
              <a:t>3</a:t>
            </a:r>
            <a:r>
              <a:rPr lang="es-ES" dirty="0"/>
              <a:t>5</a:t>
            </a:r>
            <a:r>
              <a:rPr dirty="0"/>
              <a:t>% </a:t>
            </a:r>
            <a:r>
              <a:rPr dirty="0" err="1"/>
              <a:t>resenas</a:t>
            </a:r>
            <a:r>
              <a:rPr dirty="0"/>
              <a:t> </a:t>
            </a:r>
            <a:r>
              <a:rPr dirty="0" err="1"/>
              <a:t>positivas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807031" y="2743200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rPr dirty="0"/>
              <a:t>Media del sector: 4</a:t>
            </a:r>
            <a:r>
              <a:rPr lang="es-ES" dirty="0"/>
              <a:t>7</a:t>
            </a:r>
            <a:r>
              <a:rPr dirty="0"/>
              <a:t>%</a:t>
            </a:r>
            <a:r>
              <a:rPr lang="es-ES" dirty="0"/>
              <a:t> RP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807031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07031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Wise esta 12 puntos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7031" y="3977639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rPr lang="es-ES" dirty="0"/>
              <a:t>P</a:t>
            </a:r>
            <a:r>
              <a:rPr dirty="0"/>
              <a:t>or </a:t>
            </a:r>
            <a:r>
              <a:rPr dirty="0" err="1"/>
              <a:t>debajo</a:t>
            </a:r>
            <a:r>
              <a:rPr dirty="0"/>
              <a:t> de la media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5D0727E-3BF3-4B77-B401-B7D2D0C80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1219200"/>
            <a:ext cx="2836187" cy="473492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1D2BC101-718E-4BC2-BBA5-F239EACFD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742" y="1142999"/>
            <a:ext cx="5767397" cy="4572001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04164526-E20E-4720-984E-9BA28851C1D2}"/>
              </a:ext>
            </a:extLst>
          </p:cNvPr>
          <p:cNvSpPr/>
          <p:nvPr/>
        </p:nvSpPr>
        <p:spPr>
          <a:xfrm>
            <a:off x="0" y="-1"/>
            <a:ext cx="12192000" cy="994299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64573" y="182562"/>
            <a:ext cx="8492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rPr lang="es-ES" sz="3600" b="1" dirty="0" err="1">
                <a:solidFill>
                  <a:srgbClr val="B5E580"/>
                </a:solidFill>
              </a:rPr>
              <a:t>Wise</a:t>
            </a:r>
            <a:r>
              <a:rPr lang="es-ES" sz="3600" b="1" dirty="0">
                <a:solidFill>
                  <a:srgbClr val="B5E580"/>
                </a:solidFill>
              </a:rPr>
              <a:t> vs Competencia - Ranking del Sector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27526" y="1188720"/>
            <a:ext cx="4459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3C9F"/>
                </a:solidFill>
              </a:defRPr>
            </a:pPr>
            <a:r>
              <a:rPr dirty="0"/>
              <a:t>An</a:t>
            </a:r>
            <a:r>
              <a:rPr lang="es-ES" dirty="0"/>
              <a:t>á</a:t>
            </a:r>
            <a:r>
              <a:rPr dirty="0" err="1"/>
              <a:t>lisis</a:t>
            </a:r>
            <a:r>
              <a:rPr dirty="0"/>
              <a:t> </a:t>
            </a:r>
            <a:r>
              <a:rPr lang="es-ES" dirty="0"/>
              <a:t>de reseñas</a:t>
            </a:r>
            <a:endParaRPr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2D5A964-E7C6-41B5-B6F1-D67BCF8415F0}"/>
              </a:ext>
            </a:extLst>
          </p:cNvPr>
          <p:cNvSpPr/>
          <p:nvPr/>
        </p:nvSpPr>
        <p:spPr>
          <a:xfrm>
            <a:off x="0" y="-1"/>
            <a:ext cx="12192000" cy="994299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6C234E6E-36B1-47DB-8A4E-33CD20207EA8}"/>
              </a:ext>
            </a:extLst>
          </p:cNvPr>
          <p:cNvSpPr txBox="1"/>
          <p:nvPr/>
        </p:nvSpPr>
        <p:spPr>
          <a:xfrm>
            <a:off x="464573" y="182562"/>
            <a:ext cx="8492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rPr lang="es-ES" sz="3600" b="1" dirty="0" err="1">
                <a:solidFill>
                  <a:srgbClr val="B5E580"/>
                </a:solidFill>
              </a:rPr>
              <a:t>Topics</a:t>
            </a:r>
            <a:r>
              <a:rPr lang="es-ES" sz="3600" b="1" dirty="0">
                <a:solidFill>
                  <a:srgbClr val="B5E580"/>
                </a:solidFill>
              </a:rPr>
              <a:t> – ¿De que hablan las reseñas?</a:t>
            </a:r>
          </a:p>
        </p:txBody>
      </p:sp>
      <p:pic>
        <p:nvPicPr>
          <p:cNvPr id="15" name="Picture 4" descr="topics_con_nombres_clean.png">
            <a:extLst>
              <a:ext uri="{FF2B5EF4-FFF2-40B4-BE49-F238E27FC236}">
                <a16:creationId xmlns:a16="http://schemas.microsoft.com/office/drawing/2014/main" id="{A333E220-FC53-4821-A1A7-5589F91FC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64" y="1371600"/>
            <a:ext cx="7214462" cy="4496540"/>
          </a:xfrm>
          <a:prstGeom prst="rect">
            <a:avLst/>
          </a:prstGeom>
        </p:spPr>
      </p:pic>
      <p:sp>
        <p:nvSpPr>
          <p:cNvPr id="16" name="TextBox 3">
            <a:extLst>
              <a:ext uri="{FF2B5EF4-FFF2-40B4-BE49-F238E27FC236}">
                <a16:creationId xmlns:a16="http://schemas.microsoft.com/office/drawing/2014/main" id="{7659E9AA-66D9-47A6-82C1-FA9F471E0352}"/>
              </a:ext>
            </a:extLst>
          </p:cNvPr>
          <p:cNvSpPr txBox="1"/>
          <p:nvPr/>
        </p:nvSpPr>
        <p:spPr>
          <a:xfrm>
            <a:off x="7470435" y="1645920"/>
            <a:ext cx="453809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rPr lang="es-ES" dirty="0"/>
              <a:t>Modelo entrenado sobre todas las reseñas del sector banca para mayor robustez </a:t>
            </a:r>
          </a:p>
          <a:p>
            <a:pPr>
              <a:spcBef>
                <a:spcPts val="1200"/>
              </a:spcBef>
              <a:defRPr sz="1500" b="0">
                <a:solidFill>
                  <a:srgbClr val="333333"/>
                </a:solidFill>
              </a:defRPr>
            </a:pPr>
            <a:r>
              <a:rPr sz="1500" b="1" dirty="0">
                <a:solidFill>
                  <a:srgbClr val="333333"/>
                </a:solidFill>
              </a:rPr>
              <a:t>Topics d</a:t>
            </a:r>
            <a:r>
              <a:rPr lang="es-ES" sz="1500" b="1" dirty="0" err="1">
                <a:solidFill>
                  <a:srgbClr val="333333"/>
                </a:solidFill>
              </a:rPr>
              <a:t>ó</a:t>
            </a:r>
            <a:r>
              <a:rPr sz="1500" b="1" dirty="0" err="1">
                <a:solidFill>
                  <a:srgbClr val="333333"/>
                </a:solidFill>
              </a:rPr>
              <a:t>nde</a:t>
            </a:r>
            <a:r>
              <a:rPr sz="1500" b="1" dirty="0">
                <a:solidFill>
                  <a:srgbClr val="333333"/>
                </a:solidFill>
              </a:rPr>
              <a:t> Wise </a:t>
            </a:r>
            <a:r>
              <a:rPr sz="1500" b="1" dirty="0" err="1">
                <a:solidFill>
                  <a:srgbClr val="333333"/>
                </a:solidFill>
              </a:rPr>
              <a:t>tiene</a:t>
            </a:r>
            <a:r>
              <a:rPr sz="1500" b="1" dirty="0">
                <a:solidFill>
                  <a:srgbClr val="333333"/>
                </a:solidFill>
              </a:rPr>
              <a:t> </a:t>
            </a:r>
            <a:r>
              <a:rPr sz="1500" b="1" dirty="0" err="1">
                <a:solidFill>
                  <a:srgbClr val="333333"/>
                </a:solidFill>
              </a:rPr>
              <a:t>presencia</a:t>
            </a:r>
            <a:r>
              <a:rPr sz="1500" b="1" dirty="0">
                <a:solidFill>
                  <a:srgbClr val="333333"/>
                </a:solidFill>
              </a:rPr>
              <a:t>: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  <a:defRPr sz="1500" b="0">
                <a:solidFill>
                  <a:srgbClr val="333333"/>
                </a:solidFill>
              </a:defRPr>
            </a:pPr>
            <a:r>
              <a:rPr lang="es-ES" sz="1500" dirty="0">
                <a:solidFill>
                  <a:srgbClr val="333333"/>
                </a:solidFill>
              </a:rPr>
              <a:t>19%: </a:t>
            </a:r>
            <a:r>
              <a:rPr sz="1500" dirty="0">
                <a:solidFill>
                  <a:srgbClr val="333333"/>
                </a:solidFill>
              </a:rPr>
              <a:t>Divisas</a:t>
            </a:r>
            <a:r>
              <a:rPr lang="es-ES" sz="1500" dirty="0">
                <a:solidFill>
                  <a:srgbClr val="333333"/>
                </a:solidFill>
              </a:rPr>
              <a:t> y </a:t>
            </a:r>
            <a:r>
              <a:rPr sz="1500" dirty="0" err="1">
                <a:solidFill>
                  <a:srgbClr val="333333"/>
                </a:solidFill>
              </a:rPr>
              <a:t>Comisiones</a:t>
            </a:r>
            <a:r>
              <a:rPr sz="1500" dirty="0">
                <a:solidFill>
                  <a:srgbClr val="333333"/>
                </a:solidFill>
              </a:rPr>
              <a:t> 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  <a:defRPr sz="1500" b="0">
                <a:solidFill>
                  <a:srgbClr val="333333"/>
                </a:solidFill>
              </a:defRPr>
            </a:pPr>
            <a:r>
              <a:rPr lang="es-ES" sz="1500" dirty="0">
                <a:solidFill>
                  <a:srgbClr val="333333"/>
                </a:solidFill>
              </a:rPr>
              <a:t>11%: </a:t>
            </a:r>
            <a:r>
              <a:rPr sz="1500" dirty="0">
                <a:solidFill>
                  <a:srgbClr val="333333"/>
                </a:solidFill>
              </a:rPr>
              <a:t> </a:t>
            </a:r>
            <a:r>
              <a:rPr sz="1500" dirty="0" err="1">
                <a:solidFill>
                  <a:srgbClr val="333333"/>
                </a:solidFill>
              </a:rPr>
              <a:t>Tiempos</a:t>
            </a:r>
            <a:r>
              <a:rPr sz="1500" dirty="0">
                <a:solidFill>
                  <a:srgbClr val="333333"/>
                </a:solidFill>
              </a:rPr>
              <a:t> de </a:t>
            </a:r>
            <a:r>
              <a:rPr sz="1500" dirty="0" err="1">
                <a:solidFill>
                  <a:srgbClr val="333333"/>
                </a:solidFill>
              </a:rPr>
              <a:t>esper</a:t>
            </a:r>
            <a:r>
              <a:rPr lang="es-ES" sz="1500" dirty="0">
                <a:solidFill>
                  <a:srgbClr val="333333"/>
                </a:solidFill>
              </a:rPr>
              <a:t>a</a:t>
            </a:r>
            <a:endParaRPr sz="1500" dirty="0">
              <a:solidFill>
                <a:srgbClr val="333333"/>
              </a:solidFill>
            </a:endParaRP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  <a:defRPr sz="1500" b="0">
                <a:solidFill>
                  <a:srgbClr val="333333"/>
                </a:solidFill>
              </a:defRPr>
            </a:pPr>
            <a:r>
              <a:rPr lang="es-ES" sz="1500" dirty="0">
                <a:solidFill>
                  <a:srgbClr val="333333"/>
                </a:solidFill>
              </a:rPr>
              <a:t>11%: Productos y </a:t>
            </a:r>
            <a:r>
              <a:rPr lang="en-US" sz="1500" dirty="0" err="1">
                <a:solidFill>
                  <a:srgbClr val="333333"/>
                </a:solidFill>
              </a:rPr>
              <a:t>Transferencias</a:t>
            </a:r>
            <a:endParaRPr sz="1500" dirty="0">
              <a:solidFill>
                <a:srgbClr val="333333"/>
              </a:solidFill>
            </a:endParaRP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  <a:defRPr sz="1500" b="0">
                <a:solidFill>
                  <a:srgbClr val="333333"/>
                </a:solidFill>
              </a:defRPr>
            </a:pPr>
            <a:r>
              <a:rPr lang="es-ES" sz="1500" dirty="0">
                <a:solidFill>
                  <a:srgbClr val="333333"/>
                </a:solidFill>
              </a:rPr>
              <a:t>2%: </a:t>
            </a:r>
            <a:r>
              <a:rPr sz="1500" dirty="0" err="1">
                <a:solidFill>
                  <a:srgbClr val="333333"/>
                </a:solidFill>
              </a:rPr>
              <a:t>Verificación</a:t>
            </a:r>
            <a:r>
              <a:rPr sz="1500" dirty="0">
                <a:solidFill>
                  <a:srgbClr val="333333"/>
                </a:solidFill>
              </a:rPr>
              <a:t> de </a:t>
            </a:r>
            <a:r>
              <a:rPr sz="1500" dirty="0" err="1">
                <a:solidFill>
                  <a:srgbClr val="333333"/>
                </a:solidFill>
              </a:rPr>
              <a:t>identidad</a:t>
            </a:r>
            <a:endParaRPr sz="1500" dirty="0">
              <a:solidFill>
                <a:srgbClr val="333333"/>
              </a:solidFill>
            </a:endParaRP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  <a:defRPr sz="1500" b="0">
                <a:solidFill>
                  <a:srgbClr val="333333"/>
                </a:solidFill>
              </a:defRPr>
            </a:pPr>
            <a:r>
              <a:rPr lang="es-ES" sz="1500" dirty="0">
                <a:solidFill>
                  <a:srgbClr val="333333"/>
                </a:solidFill>
              </a:rPr>
              <a:t>4%: Facilidad de uso</a:t>
            </a:r>
            <a:endParaRPr sz="1500" dirty="0">
              <a:solidFill>
                <a:srgbClr val="333333"/>
              </a:solidFill>
            </a:endParaRPr>
          </a:p>
          <a:p>
            <a:pPr>
              <a:spcBef>
                <a:spcPts val="1200"/>
              </a:spcBef>
              <a:defRPr sz="1500" b="0">
                <a:solidFill>
                  <a:srgbClr val="333333"/>
                </a:solidFill>
              </a:defRPr>
            </a:pPr>
            <a:r>
              <a:rPr sz="1500" b="1" dirty="0">
                <a:solidFill>
                  <a:srgbClr val="333333"/>
                </a:solidFill>
              </a:rPr>
              <a:t>Insight clave: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  <a:defRPr sz="1500" b="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Wise NO </a:t>
            </a:r>
            <a:r>
              <a:rPr sz="1500" dirty="0" err="1">
                <a:solidFill>
                  <a:srgbClr val="333333"/>
                </a:solidFill>
              </a:rPr>
              <a:t>está</a:t>
            </a:r>
            <a:r>
              <a:rPr sz="1500" dirty="0">
                <a:solidFill>
                  <a:srgbClr val="333333"/>
                </a:solidFill>
              </a:rPr>
              <a:t> </a:t>
            </a:r>
            <a:r>
              <a:rPr sz="1500" dirty="0" err="1">
                <a:solidFill>
                  <a:srgbClr val="333333"/>
                </a:solidFill>
              </a:rPr>
              <a:t>concentrado</a:t>
            </a:r>
            <a:r>
              <a:rPr sz="1500" dirty="0">
                <a:solidFill>
                  <a:srgbClr val="333333"/>
                </a:solidFill>
              </a:rPr>
              <a:t> </a:t>
            </a:r>
            <a:r>
              <a:rPr sz="1500" dirty="0" err="1">
                <a:solidFill>
                  <a:srgbClr val="333333"/>
                </a:solidFill>
              </a:rPr>
              <a:t>en</a:t>
            </a:r>
            <a:r>
              <a:rPr sz="1500" dirty="0">
                <a:solidFill>
                  <a:srgbClr val="333333"/>
                </a:solidFill>
              </a:rPr>
              <a:t> 'banca general'.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  <a:defRPr sz="1500" b="0">
                <a:solidFill>
                  <a:srgbClr val="333333"/>
                </a:solidFill>
              </a:defRPr>
            </a:pPr>
            <a:r>
              <a:rPr lang="es-ES" sz="1500" dirty="0">
                <a:solidFill>
                  <a:srgbClr val="333333"/>
                </a:solidFill>
              </a:rPr>
              <a:t>P</a:t>
            </a:r>
            <a:r>
              <a:rPr sz="1500" dirty="0" err="1">
                <a:solidFill>
                  <a:srgbClr val="333333"/>
                </a:solidFill>
              </a:rPr>
              <a:t>roblemas</a:t>
            </a:r>
            <a:r>
              <a:rPr sz="1500" dirty="0">
                <a:solidFill>
                  <a:srgbClr val="333333"/>
                </a:solidFill>
              </a:rPr>
              <a:t> </a:t>
            </a:r>
            <a:r>
              <a:rPr sz="1500" dirty="0" err="1">
                <a:solidFill>
                  <a:srgbClr val="333333"/>
                </a:solidFill>
              </a:rPr>
              <a:t>específicos</a:t>
            </a:r>
            <a:r>
              <a:rPr sz="1500" dirty="0">
                <a:solidFill>
                  <a:srgbClr val="333333"/>
                </a:solidFill>
              </a:rPr>
              <a:t>: </a:t>
            </a:r>
            <a:r>
              <a:rPr lang="es-ES" sz="1500" dirty="0">
                <a:solidFill>
                  <a:srgbClr val="333333"/>
                </a:solidFill>
              </a:rPr>
              <a:t>comisiones</a:t>
            </a:r>
            <a:r>
              <a:rPr sz="1500" dirty="0">
                <a:solidFill>
                  <a:srgbClr val="333333"/>
                </a:solidFill>
              </a:rPr>
              <a:t>, </a:t>
            </a:r>
            <a:r>
              <a:rPr sz="1500" dirty="0" err="1">
                <a:solidFill>
                  <a:srgbClr val="333333"/>
                </a:solidFill>
              </a:rPr>
              <a:t>tiempos</a:t>
            </a:r>
            <a:r>
              <a:rPr sz="1500" dirty="0">
                <a:solidFill>
                  <a:srgbClr val="333333"/>
                </a:solidFill>
              </a:rPr>
              <a:t>, </a:t>
            </a:r>
            <a:r>
              <a:rPr sz="1500" dirty="0" err="1">
                <a:solidFill>
                  <a:srgbClr val="333333"/>
                </a:solidFill>
              </a:rPr>
              <a:t>verificación</a:t>
            </a:r>
            <a:r>
              <a:rPr sz="1500" dirty="0">
                <a:solidFill>
                  <a:srgbClr val="333333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9A4B6FB6-C61D-440D-99DC-DE6562173223}"/>
              </a:ext>
            </a:extLst>
          </p:cNvPr>
          <p:cNvSpPr/>
          <p:nvPr/>
        </p:nvSpPr>
        <p:spPr>
          <a:xfrm>
            <a:off x="0" y="-1"/>
            <a:ext cx="12192000" cy="994299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1D03A5E2-FAF1-40BA-AA81-D9D88089C7DC}"/>
              </a:ext>
            </a:extLst>
          </p:cNvPr>
          <p:cNvSpPr txBox="1"/>
          <p:nvPr/>
        </p:nvSpPr>
        <p:spPr>
          <a:xfrm>
            <a:off x="464573" y="182562"/>
            <a:ext cx="8492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rPr lang="es-ES" sz="3600" b="1" dirty="0" err="1">
                <a:solidFill>
                  <a:srgbClr val="B5E580"/>
                </a:solidFill>
              </a:rPr>
              <a:t>Wise</a:t>
            </a:r>
            <a:r>
              <a:rPr lang="es-ES" sz="3600" b="1" dirty="0">
                <a:solidFill>
                  <a:srgbClr val="B5E580"/>
                </a:solidFill>
              </a:rPr>
              <a:t> vs. Sector – Gap por </a:t>
            </a:r>
            <a:r>
              <a:rPr lang="es-ES" sz="3600" b="1" dirty="0" err="1">
                <a:solidFill>
                  <a:srgbClr val="B5E580"/>
                </a:solidFill>
              </a:rPr>
              <a:t>Topic</a:t>
            </a:r>
            <a:endParaRPr lang="es-ES" sz="3600" b="1" dirty="0">
              <a:solidFill>
                <a:srgbClr val="B5E580"/>
              </a:solidFill>
            </a:endParaRP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64946BFF-A2B4-486C-A554-0E0A9F945CEE}"/>
              </a:ext>
            </a:extLst>
          </p:cNvPr>
          <p:cNvSpPr txBox="1"/>
          <p:nvPr/>
        </p:nvSpPr>
        <p:spPr>
          <a:xfrm>
            <a:off x="6400802" y="1441132"/>
            <a:ext cx="5791198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sz="1600" b="1" dirty="0"/>
              <a:t>✅ DONDE SOMOS MEJORES: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</a:t>
            </a:r>
            <a:r>
              <a:rPr sz="1500" dirty="0" err="1">
                <a:solidFill>
                  <a:srgbClr val="333333"/>
                </a:solidFill>
              </a:rPr>
              <a:t>Procesos</a:t>
            </a:r>
            <a:r>
              <a:rPr sz="1500" dirty="0">
                <a:solidFill>
                  <a:srgbClr val="333333"/>
                </a:solidFill>
              </a:rPr>
              <a:t> </a:t>
            </a:r>
            <a:r>
              <a:rPr sz="1500" dirty="0" err="1">
                <a:solidFill>
                  <a:srgbClr val="333333"/>
                </a:solidFill>
              </a:rPr>
              <a:t>fáciles</a:t>
            </a:r>
            <a:r>
              <a:rPr sz="1500" dirty="0">
                <a:solidFill>
                  <a:srgbClr val="333333"/>
                </a:solidFill>
              </a:rPr>
              <a:t> y </a:t>
            </a:r>
            <a:r>
              <a:rPr sz="1500" dirty="0" err="1">
                <a:solidFill>
                  <a:srgbClr val="333333"/>
                </a:solidFill>
              </a:rPr>
              <a:t>rápidos</a:t>
            </a:r>
            <a:r>
              <a:rPr sz="1500" dirty="0">
                <a:solidFill>
                  <a:srgbClr val="333333"/>
                </a:solidFill>
              </a:rPr>
              <a:t>: +15% vs sector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</a:t>
            </a:r>
            <a:r>
              <a:rPr sz="1500" dirty="0" err="1">
                <a:solidFill>
                  <a:srgbClr val="333333"/>
                </a:solidFill>
              </a:rPr>
              <a:t>Transferencias</a:t>
            </a:r>
            <a:r>
              <a:rPr sz="1500" dirty="0">
                <a:solidFill>
                  <a:srgbClr val="333333"/>
                </a:solidFill>
              </a:rPr>
              <a:t> </a:t>
            </a:r>
            <a:r>
              <a:rPr sz="1500" dirty="0" err="1">
                <a:solidFill>
                  <a:srgbClr val="333333"/>
                </a:solidFill>
              </a:rPr>
              <a:t>internacionales</a:t>
            </a:r>
            <a:r>
              <a:rPr sz="1500" dirty="0">
                <a:solidFill>
                  <a:srgbClr val="333333"/>
                </a:solidFill>
              </a:rPr>
              <a:t>: +8% vs sector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sz="1600" b="1" dirty="0">
                <a:solidFill>
                  <a:srgbClr val="333333"/>
                </a:solidFill>
              </a:rPr>
              <a:t>❌ DONDE SOMOS PEORES: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</a:t>
            </a:r>
            <a:r>
              <a:rPr sz="1500" dirty="0" err="1">
                <a:solidFill>
                  <a:srgbClr val="333333"/>
                </a:solidFill>
              </a:rPr>
              <a:t>Verificación</a:t>
            </a:r>
            <a:r>
              <a:rPr sz="1500" dirty="0">
                <a:solidFill>
                  <a:srgbClr val="333333"/>
                </a:solidFill>
              </a:rPr>
              <a:t> de </a:t>
            </a:r>
            <a:r>
              <a:rPr sz="1500" dirty="0" err="1">
                <a:solidFill>
                  <a:srgbClr val="333333"/>
                </a:solidFill>
              </a:rPr>
              <a:t>identidad</a:t>
            </a:r>
            <a:r>
              <a:rPr sz="1500" dirty="0">
                <a:solidFill>
                  <a:srgbClr val="333333"/>
                </a:solidFill>
              </a:rPr>
              <a:t>: 0% </a:t>
            </a:r>
            <a:r>
              <a:rPr sz="1500" dirty="0" err="1">
                <a:solidFill>
                  <a:srgbClr val="333333"/>
                </a:solidFill>
              </a:rPr>
              <a:t>positivo</a:t>
            </a:r>
            <a:r>
              <a:rPr sz="1500" dirty="0">
                <a:solidFill>
                  <a:srgbClr val="333333"/>
                </a:solidFill>
              </a:rPr>
              <a:t> vs 12% sector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</a:t>
            </a:r>
            <a:r>
              <a:rPr sz="1500" dirty="0" err="1">
                <a:solidFill>
                  <a:srgbClr val="333333"/>
                </a:solidFill>
              </a:rPr>
              <a:t>Comisiones</a:t>
            </a:r>
            <a:r>
              <a:rPr sz="1500" dirty="0">
                <a:solidFill>
                  <a:srgbClr val="333333"/>
                </a:solidFill>
              </a:rPr>
              <a:t>/fees: -10% vs sector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</a:t>
            </a:r>
            <a:r>
              <a:rPr sz="1500" dirty="0" err="1">
                <a:solidFill>
                  <a:srgbClr val="333333"/>
                </a:solidFill>
              </a:rPr>
              <a:t>Tiempos</a:t>
            </a:r>
            <a:r>
              <a:rPr sz="1500" dirty="0">
                <a:solidFill>
                  <a:srgbClr val="333333"/>
                </a:solidFill>
              </a:rPr>
              <a:t> de </a:t>
            </a:r>
            <a:r>
              <a:rPr sz="1500" dirty="0" err="1">
                <a:solidFill>
                  <a:srgbClr val="333333"/>
                </a:solidFill>
              </a:rPr>
              <a:t>respuesta</a:t>
            </a:r>
            <a:r>
              <a:rPr sz="1500" dirty="0">
                <a:solidFill>
                  <a:srgbClr val="333333"/>
                </a:solidFill>
              </a:rPr>
              <a:t>: -15% vs sector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sz="1600" dirty="0" err="1"/>
              <a:t>Paradoja</a:t>
            </a:r>
            <a:r>
              <a:rPr sz="1600" dirty="0"/>
              <a:t>: El </a:t>
            </a:r>
            <a:r>
              <a:rPr sz="1600" dirty="0" err="1"/>
              <a:t>producto</a:t>
            </a:r>
            <a:r>
              <a:rPr sz="1600" dirty="0"/>
              <a:t> core </a:t>
            </a:r>
            <a:r>
              <a:rPr sz="1600" dirty="0" err="1"/>
              <a:t>funciona</a:t>
            </a:r>
            <a:r>
              <a:rPr sz="1600" dirty="0"/>
              <a:t> bien.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rPr sz="1600" dirty="0"/>
              <a:t>Los </a:t>
            </a:r>
            <a:r>
              <a:rPr sz="1600" dirty="0" err="1"/>
              <a:t>problemas</a:t>
            </a:r>
            <a:r>
              <a:rPr sz="1600" dirty="0"/>
              <a:t> </a:t>
            </a:r>
            <a:r>
              <a:rPr sz="1600" dirty="0" err="1"/>
              <a:t>están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fricciones</a:t>
            </a:r>
            <a:r>
              <a:rPr sz="1600" dirty="0"/>
              <a:t> </a:t>
            </a:r>
            <a:r>
              <a:rPr sz="1600" dirty="0" err="1"/>
              <a:t>operativas</a:t>
            </a:r>
            <a:r>
              <a:rPr sz="1600" dirty="0"/>
              <a:t> (KYC, </a:t>
            </a:r>
            <a:r>
              <a:rPr sz="1600" dirty="0" err="1"/>
              <a:t>soporte</a:t>
            </a:r>
            <a:r>
              <a:rPr sz="1600" dirty="0"/>
              <a:t>, </a:t>
            </a:r>
            <a:r>
              <a:rPr sz="1600" dirty="0" err="1"/>
              <a:t>comunicación</a:t>
            </a:r>
            <a:r>
              <a:rPr sz="1600" dirty="0"/>
              <a:t>).</a:t>
            </a:r>
          </a:p>
        </p:txBody>
      </p:sp>
      <p:pic>
        <p:nvPicPr>
          <p:cNvPr id="18" name="Picture 4" descr="radar_wise_vs_sector_clean.png">
            <a:extLst>
              <a:ext uri="{FF2B5EF4-FFF2-40B4-BE49-F238E27FC236}">
                <a16:creationId xmlns:a16="http://schemas.microsoft.com/office/drawing/2014/main" id="{654A66C7-CEDF-40AF-B8A9-12B9EB1D0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04764"/>
            <a:ext cx="5936202" cy="47419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A0C73D6-5310-43B3-BEE1-35B8F4ACEDCC}"/>
              </a:ext>
            </a:extLst>
          </p:cNvPr>
          <p:cNvSpPr/>
          <p:nvPr/>
        </p:nvSpPr>
        <p:spPr>
          <a:xfrm>
            <a:off x="0" y="-1"/>
            <a:ext cx="12192000" cy="994299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636E149A-E7CD-4860-8921-005CD087E89C}"/>
              </a:ext>
            </a:extLst>
          </p:cNvPr>
          <p:cNvSpPr txBox="1"/>
          <p:nvPr/>
        </p:nvSpPr>
        <p:spPr>
          <a:xfrm>
            <a:off x="464573" y="182562"/>
            <a:ext cx="8492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rPr lang="es-ES" sz="3600" b="1" dirty="0">
                <a:solidFill>
                  <a:srgbClr val="B5E580"/>
                </a:solidFill>
              </a:rPr>
              <a:t>¿Qué dicen las reseñas negativas?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800EADE-445A-46F8-91CD-4E39EDC02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89" y="1336659"/>
            <a:ext cx="8426475" cy="471791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70A9F64-54C2-4F1D-8897-44262B074912}"/>
              </a:ext>
            </a:extLst>
          </p:cNvPr>
          <p:cNvSpPr txBox="1"/>
          <p:nvPr/>
        </p:nvSpPr>
        <p:spPr>
          <a:xfrm>
            <a:off x="9241655" y="1877415"/>
            <a:ext cx="23170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Top5 mas </a:t>
            </a:r>
            <a:r>
              <a:rPr lang="en-US" dirty="0" err="1"/>
              <a:t>frecuentes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time: 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don: 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days: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issue: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transfers: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E870"/>
                </a:solidFill>
              </a:defRPr>
            </a:pPr>
            <a:r>
              <a:rPr sz="3600" b="1" dirty="0" err="1">
                <a:solidFill>
                  <a:srgbClr val="B5E580"/>
                </a:solidFill>
              </a:rPr>
              <a:t>Conclusiones</a:t>
            </a:r>
            <a:r>
              <a:rPr sz="3600" b="1" dirty="0">
                <a:solidFill>
                  <a:srgbClr val="B5E580"/>
                </a:solidFill>
              </a:rPr>
              <a:t> y </a:t>
            </a:r>
            <a:r>
              <a:rPr sz="3600" b="1" dirty="0" err="1">
                <a:solidFill>
                  <a:srgbClr val="B5E580"/>
                </a:solidFill>
              </a:rPr>
              <a:t>Recomendaciones</a:t>
            </a:r>
            <a:endParaRPr sz="3600" b="1" dirty="0">
              <a:solidFill>
                <a:srgbClr val="B5E58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12903" y="1191035"/>
            <a:ext cx="243041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 dirty="0" err="1"/>
              <a:t>Conclusiones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978292" y="1146621"/>
            <a:ext cx="343033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FE870"/>
                </a:solidFill>
              </a:defRPr>
            </a:pPr>
            <a:r>
              <a:rPr lang="es-ES" dirty="0">
                <a:solidFill>
                  <a:schemeClr val="bg1"/>
                </a:solidFill>
              </a:rPr>
              <a:t>Acciones Recomendadas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CE1D88A-6F92-45B4-AD07-110308DC5D3D}"/>
              </a:ext>
            </a:extLst>
          </p:cNvPr>
          <p:cNvSpPr txBox="1"/>
          <p:nvPr/>
        </p:nvSpPr>
        <p:spPr>
          <a:xfrm>
            <a:off x="457200" y="1736983"/>
            <a:ext cx="45418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>
                <a:solidFill>
                  <a:schemeClr val="bg1"/>
                </a:solidFill>
              </a:rPr>
              <a:t>Wise</a:t>
            </a:r>
            <a:r>
              <a:rPr lang="es-ES" dirty="0">
                <a:solidFill>
                  <a:schemeClr val="bg1"/>
                </a:solidFill>
              </a:rPr>
              <a:t> tiene un producto tecnológicamente sólido, pero la experiencia se deteriora en momentos de fricción (verificación, bloqueos, soporte).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BCBC1D2-ADFC-4903-A76F-8F8A0BF03E27}"/>
              </a:ext>
            </a:extLst>
          </p:cNvPr>
          <p:cNvSpPr txBox="1"/>
          <p:nvPr/>
        </p:nvSpPr>
        <p:spPr>
          <a:xfrm>
            <a:off x="5535225" y="1648235"/>
            <a:ext cx="631646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🔴 URGENTE (Impacto alto, esfuerzo medio)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Simplificar proceso de verificación de identidad (KYC)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Reducir tiempos de respuesta en atención al cliente</a:t>
            </a:r>
          </a:p>
          <a:p>
            <a:endParaRPr lang="es-ES" dirty="0">
              <a:solidFill>
                <a:schemeClr val="bg1"/>
              </a:solidFill>
            </a:endParaRPr>
          </a:p>
          <a:p>
            <a:r>
              <a:rPr lang="es-ES" dirty="0">
                <a:solidFill>
                  <a:schemeClr val="bg1"/>
                </a:solidFill>
              </a:rPr>
              <a:t>🟡 IMPORTANTE (Impacto medio, esfuerzo bajo)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Comunicación proactiva cuando hay bloqueos de cuentas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Transparencia sobre comisiones antes de operaciones</a:t>
            </a:r>
          </a:p>
          <a:p>
            <a:endParaRPr lang="es-ES" dirty="0">
              <a:solidFill>
                <a:schemeClr val="bg1"/>
              </a:solidFill>
            </a:endParaRPr>
          </a:p>
          <a:p>
            <a:r>
              <a:rPr lang="es-ES" dirty="0">
                <a:solidFill>
                  <a:schemeClr val="bg1"/>
                </a:solidFill>
              </a:rPr>
              <a:t>🟢 OPORTUNIDAD (Reforzar ventaja)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Comunicar mejor el diferencial en transferencias internacionales</a:t>
            </a:r>
          </a:p>
          <a:p>
            <a:endParaRPr lang="es-ES" dirty="0">
              <a:solidFill>
                <a:schemeClr val="bg1"/>
              </a:solidFill>
            </a:endParaRPr>
          </a:p>
          <a:p>
            <a:endParaRPr lang="es-E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9FE870"/>
                </a:solidFill>
              </a:defRPr>
            </a:pPr>
            <a:r>
              <a:rPr dirty="0">
                <a:solidFill>
                  <a:srgbClr val="B5E580"/>
                </a:solidFill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Wise.com - Analisis de Resenas Trustpilot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Deep Learning | Proyecto de Modulo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1349</TotalTime>
  <Words>484</Words>
  <Application>Microsoft Office PowerPoint</Application>
  <PresentationFormat>Panorámica</PresentationFormat>
  <Paragraphs>85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Oscar</dc:creator>
  <cp:keywords/>
  <dc:description>generated using python-pptx</dc:description>
  <cp:lastModifiedBy>Oscar Fraile</cp:lastModifiedBy>
  <cp:revision>6</cp:revision>
  <dcterms:created xsi:type="dcterms:W3CDTF">2013-01-27T09:14:16Z</dcterms:created>
  <dcterms:modified xsi:type="dcterms:W3CDTF">2026-04-19T11:07:17Z</dcterms:modified>
  <cp:category/>
</cp:coreProperties>
</file>