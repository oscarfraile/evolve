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225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D3C9E">
              <a:alpha val="35000"/>
            </a:srgbClr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3ABFA8">
              <a:alpha val="20000"/>
            </a:srgbClr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MACHINE LEARNING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Recompra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 en Retail Online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200400" cy="4572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identifica qué clientes van a volver —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que lo hagan.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Online Retail II  |  24 meses  |  1M+ transacciones  |  43 países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partida: ¿qué teníamos?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200400" cy="804672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804672"/>
          </a:xfrm>
          <a:prstGeom prst="rect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52728"/>
            <a:ext cx="30175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1.067.371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609710"/>
            <a:ext cx="301752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registradas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3200400" cy="804672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75688"/>
            <a:ext cx="54864" cy="804672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85416"/>
            <a:ext cx="30175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5.942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4360" y="2542398"/>
            <a:ext cx="301752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únicos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3200400" cy="804672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08376"/>
            <a:ext cx="54864" cy="8046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18104"/>
            <a:ext cx="30175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5.305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4360" y="3475086"/>
            <a:ext cx="301752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distintos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41064"/>
            <a:ext cx="3200400" cy="804672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41064"/>
            <a:ext cx="54864" cy="804672"/>
          </a:xfrm>
          <a:prstGeom prst="rect">
            <a:avLst/>
          </a:prstGeom>
          <a:solidFill>
            <a:srgbClr val="E2604B"/>
          </a:solidFill>
          <a:ln w="12700">
            <a:solidFill>
              <a:srgbClr val="E260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50792"/>
            <a:ext cx="30175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94360" y="4407774"/>
            <a:ext cx="301752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77640" y="1143000"/>
            <a:ext cx="4754880" cy="3749040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60520" y="1234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limpieza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60520" y="1719072"/>
            <a:ext cx="685800" cy="329184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17190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67.242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9472" y="17373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eliminados (misma transacción registrada dos veces)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2231136"/>
            <a:ext cx="685800" cy="329184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22311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22494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Customer ID → compras de invitados. Se conservan marcados como grupo especial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60520" y="2743200"/>
            <a:ext cx="685800" cy="329184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274320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3.393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9472" y="27614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internos de inventario eliminados (sin precio ni cliente)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60520" y="3255264"/>
            <a:ext cx="685800" cy="329184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325526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19472" y="32735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tráfico proviene de UK → la variable país se excluye por falta de varianza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60520" y="3767328"/>
            <a:ext cx="685800" cy="329184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37673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19.102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19472" y="37856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devoluciones separadas → no se consideran ventas, pero sí influyen en el perfil del cliente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60520" y="4279392"/>
            <a:ext cx="685800" cy="329184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427939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facturas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19472" y="42976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volúmenes imposibles (+74.000 uds) eliminadas por ser netas cero o ajustes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sabe el modelo quién va a volver?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0432"/>
            <a:ext cx="4663440" cy="1115568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90472"/>
            <a:ext cx="438912" cy="438912"/>
          </a:xfrm>
          <a:prstGeom prst="ellipse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90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Resumimos el pasado de cada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6093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24 meses de compras calculamos 5 indicadores por cliente: tiempo sin comprar, cuántas veces compró, cuánto gastó, con qué frecuencia y su tasa de devolución.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4663440" cy="1115568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752344"/>
            <a:ext cx="438912" cy="438912"/>
          </a:xfrm>
          <a:prstGeom prst="ellipse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quién "volvió"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8712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Dividimos los datos en dos ventanas: los primeros 18 meses para aprender, los últimos 6 para comprobar. Si el cliente compró en esos últimos 6 meses → volvió (1). Si no → no volvió (0).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94176"/>
            <a:ext cx="4663440" cy="1115568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4014216"/>
            <a:ext cx="438912" cy="438912"/>
          </a:xfrm>
          <a:prstGeom prst="ellipse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aprendió el patrón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41330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esos datos, el algoritmo identificó qué combinación de indicadores distingue a un cliente que va a volver del que no. El resultado es una probabilidad entre 0 y 1 para cada cliente.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94960" y="1170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indicadores clave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1627632"/>
            <a:ext cx="3383280" cy="548640"/>
          </a:xfrm>
          <a:prstGeom prst="rect">
            <a:avLst/>
          </a:prstGeom>
          <a:solidFill>
            <a:srgbClr val="243080"/>
          </a:solidFill>
          <a:ln w="19050">
            <a:solidFill>
              <a:srgbClr val="E260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0" y="1627632"/>
            <a:ext cx="64008" cy="548640"/>
          </a:xfrm>
          <a:prstGeom prst="rect">
            <a:avLst/>
          </a:prstGeom>
          <a:solidFill>
            <a:srgbClr val="E2604B"/>
          </a:solidFill>
          <a:ln w="12700">
            <a:solidFill>
              <a:srgbClr val="E260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6824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9552" y="1920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sin comprar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2295144"/>
            <a:ext cx="3383280" cy="548640"/>
          </a:xfrm>
          <a:prstGeom prst="rect">
            <a:avLst/>
          </a:prstGeom>
          <a:solidFill>
            <a:srgbClr val="243080"/>
          </a:solidFill>
          <a:ln w="19050">
            <a:solidFill>
              <a:srgbClr val="3ABF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2295144"/>
            <a:ext cx="64008" cy="548640"/>
          </a:xfrm>
          <a:prstGeom prst="rect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23500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compras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9552" y="2587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pedido históricas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94960" y="2962656"/>
            <a:ext cx="3383280" cy="548640"/>
          </a:xfrm>
          <a:prstGeom prst="rect">
            <a:avLst/>
          </a:prstGeom>
          <a:solidFill>
            <a:srgbClr val="243080"/>
          </a:solidFill>
          <a:ln w="19050">
            <a:solidFill>
              <a:srgbClr val="E2A0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2962656"/>
            <a:ext cx="64008" cy="54864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30175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59552" y="32552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acumulado (£)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94960" y="3630168"/>
            <a:ext cx="3383280" cy="548640"/>
          </a:xfrm>
          <a:prstGeom prst="rect">
            <a:avLst/>
          </a:prstGeom>
          <a:solidFill>
            <a:srgbClr val="24308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3630168"/>
            <a:ext cx="64008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36850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9552" y="39227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medios entre pedidos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94960" y="4297680"/>
            <a:ext cx="3383280" cy="548640"/>
          </a:xfrm>
          <a:prstGeom prst="rect">
            <a:avLst/>
          </a:prstGeom>
          <a:solidFill>
            <a:srgbClr val="243080"/>
          </a:solidFill>
          <a:ln w="19050">
            <a:solidFill>
              <a:srgbClr val="2D3C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0" y="4297680"/>
            <a:ext cx="64008" cy="548640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4352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devolución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59552" y="45902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pedidos devueltos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modelo: resultados y capacidad predictiva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560320" cy="1920240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1920240"/>
          </a:xfrm>
          <a:prstGeom prst="rect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2091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6807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3A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0.864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2479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r>
              <a:rPr lang="en-US" sz="9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679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Probamos 3 optimizadores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Search, Grid Search, Optuna)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4 algoritmos distintos.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5440680" cy="1920240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234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AUC 0.864 en la práctica?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783080"/>
            <a:ext cx="685800" cy="310896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7830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87952" y="18196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eficiente que contactar al azar en el top 10% de clientes (curva Lift)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29000" y="2212848"/>
            <a:ext cx="685800" cy="310896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21284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87952" y="22494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ventas futuras capturadas contactando a menos del 40% de la base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29000" y="2642616"/>
            <a:ext cx="685800" cy="310896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64261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52/48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87952" y="2679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perfecto entre compradores y no compradores — sin necesitar ajuste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3375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variable influye más en si un cliente vuelve?  (DALEX — importancia global)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767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devolución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97480" y="3794760"/>
            <a:ext cx="4114800" cy="128016"/>
          </a:xfrm>
          <a:prstGeom prst="rect">
            <a:avLst/>
          </a:prstGeom>
          <a:solidFill>
            <a:srgbClr val="E2604B"/>
          </a:solidFill>
          <a:ln w="12700">
            <a:solidFill>
              <a:srgbClr val="E260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767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6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+0.210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39684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(días sin comprar)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97480" y="3995928"/>
            <a:ext cx="2424223" cy="128016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7423" y="39684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41696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compras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97480" y="4197096"/>
            <a:ext cx="1052623" cy="128016"/>
          </a:xfrm>
          <a:prstGeom prst="rect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5823" y="41696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A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" y="4370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97480" y="4398264"/>
            <a:ext cx="701749" cy="12801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44949" y="43708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697480" y="4599432"/>
            <a:ext cx="430619" cy="128016"/>
          </a:xfrm>
          <a:prstGeom prst="rect">
            <a:avLst/>
          </a:prstGeom>
          <a:solidFill>
            <a:srgbClr val="8A9BC4"/>
          </a:solidFill>
          <a:ln w="12700">
            <a:solidFill>
              <a:srgbClr val="8A9B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73819" y="45720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63640" y="373075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de devolución y el tiempo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comprar explican la mayoría</a:t>
            </a:r>
            <a:endParaRPr lang="en-US" sz="9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predicción.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 de nuestra base de clientes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identifica 4 perfiles naturales + el grupo de compradores anónimos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89888"/>
            <a:ext cx="1627632" cy="3456432"/>
          </a:xfrm>
          <a:prstGeom prst="rect">
            <a:avLst/>
          </a:prstGeom>
          <a:solidFill>
            <a:srgbClr val="243080"/>
          </a:solidFill>
          <a:ln w="19050">
            <a:solidFill>
              <a:srgbClr val="E2A0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1627632" cy="109728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1600200"/>
            <a:ext cx="640080" cy="640080"/>
          </a:xfrm>
          <a:prstGeom prst="ellipse">
            <a:avLst/>
          </a:prstGeom>
          <a:solidFill>
            <a:srgbClr val="2D3C9E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" y="278892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E2A04A">
              <a:alpha val="30000"/>
            </a:srgbClr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1821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recompra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masiva y reciente.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ingresos.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12848" y="1389888"/>
            <a:ext cx="1627632" cy="3456432"/>
          </a:xfrm>
          <a:prstGeom prst="rect">
            <a:avLst/>
          </a:prstGeom>
          <a:solidFill>
            <a:srgbClr val="243080"/>
          </a:solidFill>
          <a:ln w="19050">
            <a:solidFill>
              <a:srgbClr val="3ABF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12848" y="1389888"/>
            <a:ext cx="1627632" cy="109728"/>
          </a:xfrm>
          <a:prstGeom prst="rect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6624" y="1600200"/>
            <a:ext cx="640080" cy="640080"/>
          </a:xfrm>
          <a:prstGeom prst="ellipse">
            <a:avLst/>
          </a:prstGeom>
          <a:solidFill>
            <a:srgbClr val="2D3C9E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662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58568" y="2377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15184" y="278892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3ABFA8">
              <a:alpha val="30000"/>
            </a:srgbClr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58568" y="31821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recompra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58568" y="33832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258568" y="39319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tickets pero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espaciados.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68496" y="1389888"/>
            <a:ext cx="1627632" cy="3456432"/>
          </a:xfrm>
          <a:prstGeom prst="rect">
            <a:avLst/>
          </a:prstGeom>
          <a:solidFill>
            <a:srgbClr val="243080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68496" y="1389888"/>
            <a:ext cx="1627632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62272" y="1600200"/>
            <a:ext cx="640080" cy="640080"/>
          </a:xfrm>
          <a:prstGeom prst="ellipse">
            <a:avLst/>
          </a:prstGeom>
          <a:solidFill>
            <a:srgbClr val="2D3C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014216" y="2377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Indecisos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70832" y="278892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ADCFC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14216" y="31821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recompra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14216" y="33832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014216" y="39319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Frecuentes pero con alta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devolución (36%).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24144" y="1389888"/>
            <a:ext cx="1627632" cy="3456432"/>
          </a:xfrm>
          <a:prstGeom prst="rect">
            <a:avLst/>
          </a:prstGeom>
          <a:solidFill>
            <a:srgbClr val="243080"/>
          </a:solidFill>
          <a:ln w="19050">
            <a:solidFill>
              <a:srgbClr val="E260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24144" y="1389888"/>
            <a:ext cx="1627632" cy="109728"/>
          </a:xfrm>
          <a:prstGeom prst="rect">
            <a:avLst/>
          </a:prstGeom>
          <a:solidFill>
            <a:srgbClr val="E2604B"/>
          </a:solidFill>
          <a:ln w="12700">
            <a:solidFill>
              <a:srgbClr val="E2604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1600200"/>
            <a:ext cx="640080" cy="640080"/>
          </a:xfrm>
          <a:prstGeom prst="ellipse">
            <a:avLst/>
          </a:prstGeom>
          <a:solidFill>
            <a:srgbClr val="2D3C9E"/>
          </a:solidFill>
          <a:ln w="12700">
            <a:solidFill>
              <a:srgbClr val="E260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❄️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769864" y="2377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Desconectados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26480" y="278892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E2604B">
              <a:alpha val="30000"/>
            </a:srgbClr>
          </a:solidFill>
          <a:ln w="12700">
            <a:solidFill>
              <a:srgbClr val="E260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6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69864" y="31821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recompra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769864" y="33832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6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769864" y="39319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compra hace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9 meses.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79792" y="1389888"/>
            <a:ext cx="1627632" cy="3456432"/>
          </a:xfrm>
          <a:prstGeom prst="rect">
            <a:avLst/>
          </a:prstGeom>
          <a:solidFill>
            <a:srgbClr val="243080"/>
          </a:solidFill>
          <a:ln w="19050">
            <a:solidFill>
              <a:srgbClr val="8A9BC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79792" y="1389888"/>
            <a:ext cx="1627632" cy="109728"/>
          </a:xfrm>
          <a:prstGeom prst="rect">
            <a:avLst/>
          </a:prstGeom>
          <a:solidFill>
            <a:srgbClr val="8A9BC4"/>
          </a:solidFill>
          <a:ln w="12700">
            <a:solidFill>
              <a:srgbClr val="8A9B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73568" y="1600200"/>
            <a:ext cx="640080" cy="640080"/>
          </a:xfrm>
          <a:prstGeom prst="ellipse">
            <a:avLst/>
          </a:prstGeom>
          <a:solidFill>
            <a:srgbClr val="2D3C9E"/>
          </a:solidFill>
          <a:ln w="12700">
            <a:solidFill>
              <a:srgbClr val="8A9B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7356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525512" y="23774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Invitados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882128" y="278892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8A9BC4">
              <a:alpha val="30000"/>
            </a:srgbClr>
          </a:solidFill>
          <a:ln w="12700">
            <a:solidFill>
              <a:srgbClr val="8A9B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128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525512" y="318211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recompra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25512" y="338328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7525512" y="393192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 anónimos.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captación.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hacemos con cada segmento?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nos dice a quién priorizar — el clustering nos da el mensaje correcto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22860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89888"/>
            <a:ext cx="8229600" cy="658368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64008" cy="658368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1790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6152" y="1463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16152" y="1737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fidelización exclusivo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572768"/>
            <a:ext cx="1783080" cy="292608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5727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App VIP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148132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necesitan descuentos, necesitan trato preferente. El objetivo es maximizar su valor de vida.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30552"/>
            <a:ext cx="8229600" cy="658368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30552"/>
            <a:ext cx="64008" cy="658368"/>
          </a:xfrm>
          <a:prstGeom prst="rect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5856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6152" y="22037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2478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Cupón de reactivación temporal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2313432"/>
            <a:ext cx="1783080" cy="292608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313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Retargeting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222199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Acortar el ciclo de compra. Son clientes sanos pero lentos — un empujón en el momento correcto.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871216"/>
            <a:ext cx="8229600" cy="658368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871216"/>
            <a:ext cx="64008" cy="65836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992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16152" y="2944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Indecisos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16152" y="3218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satisfacción + soporte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3054096"/>
            <a:ext cx="1783080" cy="292608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0540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cliente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296265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devoluciones son un coste oculto. Hay que sanear la relación antes de intentar vender más.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8229600" cy="658368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611880"/>
            <a:ext cx="64008" cy="658368"/>
          </a:xfrm>
          <a:prstGeom prst="rect">
            <a:avLst/>
          </a:prstGeom>
          <a:solidFill>
            <a:srgbClr val="E2604B"/>
          </a:solidFill>
          <a:ln w="12700">
            <a:solidFill>
              <a:srgbClr val="E260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73989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❄️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6152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6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Desconectados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16152" y="39593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de última oportunidad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0" y="3794760"/>
            <a:ext cx="1783080" cy="292608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37947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Ads / Email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77840" y="370332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mínima. Solo vale la pena si el coste de recuperación es menor que el valor esperado.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4352544"/>
            <a:ext cx="8229600" cy="658368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352544"/>
            <a:ext cx="64008" cy="658368"/>
          </a:xfrm>
          <a:prstGeom prst="rect">
            <a:avLst/>
          </a:prstGeom>
          <a:solidFill>
            <a:srgbClr val="8A9BC4"/>
          </a:solidFill>
          <a:ln w="12700">
            <a:solidFill>
              <a:srgbClr val="8A9B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4805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16152" y="44256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Invitados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16152" y="47000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por registro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0" y="4535424"/>
            <a:ext cx="1783080" cy="292608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45354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en el checkout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77840" y="444398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un anónimo en cliente identificado elimina el coste de captación futuro. 22% del tráfico.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43080"/>
          </a:solidFill>
          <a:ln w="12700">
            <a:solidFill>
              <a:srgbClr val="243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conseguimos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" cy="201168"/>
          </a:xfrm>
          <a:prstGeom prst="ellipse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 AUC 0.864 — sin sobreajuste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709928"/>
            <a:ext cx="201168" cy="201168"/>
          </a:xfrm>
          <a:prstGeom prst="ellipse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824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2.0× de eficiencia vs contacto aleatorio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76856"/>
            <a:ext cx="201168" cy="201168"/>
          </a:xfrm>
          <a:prstGeom prst="ellipse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49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segmentos con acción diferenciada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43784"/>
            <a:ext cx="201168" cy="201168"/>
          </a:xfrm>
          <a:prstGeom prst="ellipse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de tráfico anónimo con acción específica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410712"/>
            <a:ext cx="201168" cy="201168"/>
          </a:xfrm>
          <a:prstGeom prst="ellipse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383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 total variable por variable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Proyecto: Online Retail II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 </a:t>
            </a:r>
            <a:r>
              <a:rPr lang="en-US" sz="80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r>
              <a:rPr lang="en-US" sz="8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AUC 0.864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94760" y="3657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794760" y="960120"/>
            <a:ext cx="5120640" cy="22860"/>
          </a:xfrm>
          <a:prstGeom prst="rect">
            <a:avLst/>
          </a:prstGeom>
          <a:solidFill>
            <a:srgbClr val="2D3C9E"/>
          </a:solidFill>
          <a:ln w="12700">
            <a:solidFill>
              <a:srgbClr val="2D3C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1078992"/>
            <a:ext cx="5120640" cy="868680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1078992"/>
            <a:ext cx="64008" cy="868680"/>
          </a:xfrm>
          <a:prstGeom prst="rect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4488" y="11521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07408" y="11521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el espacio de búsqueda de Optuna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04488" y="1499616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 trials y rangos más amplios de hiperparámetros, Optuna puede superar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AUC 0.864,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empeorar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hemos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tenido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AUC: 0.88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anteriores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trials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94760" y="2066544"/>
            <a:ext cx="5120640" cy="868680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2066544"/>
            <a:ext cx="64008" cy="868680"/>
          </a:xfrm>
          <a:prstGeom prst="rect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04488" y="21396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07408" y="21396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la variable país con OHE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04488" y="248716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UK domina (84%), los clientes internacionales podrían tener patrones distintos. Probar el modelo con y sin OHE de país para ver el impacto real en AUC.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94760" y="3054096"/>
            <a:ext cx="5120640" cy="868680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3054096"/>
            <a:ext cx="64008" cy="868680"/>
          </a:xfrm>
          <a:prstGeom prst="rect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04488" y="3127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07408" y="31272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forecasting de revenue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04488" y="3474720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variable revenue_mensual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puede aplicar Prophet o ARIMA para predecir la demanda futura por periodos — útil para planificación de inventario y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24meses -&gt;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</a:t>
            </a: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94760" y="4041648"/>
            <a:ext cx="5120640" cy="868680"/>
          </a:xfrm>
          <a:prstGeom prst="rect">
            <a:avLst/>
          </a:prstGeom>
          <a:solidFill>
            <a:srgbClr val="243080"/>
          </a:solidFill>
          <a:ln w="9525">
            <a:solidFill>
              <a:srgbClr val="2D3C9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4760" y="4041648"/>
            <a:ext cx="64008" cy="868680"/>
          </a:xfrm>
          <a:prstGeom prst="rect">
            <a:avLst/>
          </a:prstGeom>
          <a:solidFill>
            <a:srgbClr val="3ABFA8"/>
          </a:solidFill>
          <a:ln w="12700">
            <a:solidFill>
              <a:srgbClr val="3AB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04488" y="4114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07408" y="41148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final: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scoring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04488" y="4462272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el modelo en producción para generar una probabilidad de recompra por cliente cada mes de forma automática, integrándola con la herramienta de CRM.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931</Words>
  <Application>Microsoft Office PowerPoint</Application>
  <PresentationFormat>Presentación en pantalla (16:9)</PresentationFormat>
  <Paragraphs>170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 Emoji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Recompra — Online Retail II</dc:title>
  <dc:subject>PptxGenJS Presentation</dc:subject>
  <dc:creator>PptxGenJS</dc:creator>
  <cp:lastModifiedBy>Oscar Fraile</cp:lastModifiedBy>
  <cp:revision>5</cp:revision>
  <dcterms:created xsi:type="dcterms:W3CDTF">2026-03-26T11:10:01Z</dcterms:created>
  <dcterms:modified xsi:type="dcterms:W3CDTF">2026-03-26T15:48:29Z</dcterms:modified>
</cp:coreProperties>
</file>