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225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1097280"/>
            <a:ext cx="5029200" cy="5029200"/>
          </a:xfrm>
          <a:prstGeom prst="ellipse">
            <a:avLst/>
          </a:prstGeom>
          <a:solidFill>
            <a:srgbClr val="2D3C9E">
              <a:alpha val="35000"/>
            </a:srgbClr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1828800"/>
            <a:ext cx="3200400" cy="3200400"/>
          </a:xfrm>
          <a:prstGeom prst="ellipse">
            <a:avLst/>
          </a:prstGeom>
          <a:solidFill>
            <a:srgbClr val="3ABFA8">
              <a:alpha val="20000"/>
            </a:srgbClr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MACHINE LEARNING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Recompra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Clientes en Retail Online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200400" cy="45720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383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que identifica qué clientes van a volver —</a:t>
            </a:r>
            <a:endParaRPr lang="en-US" sz="1400" dirty="0"/>
          </a:p>
          <a:p>
            <a:pPr marL="0" indent="0" algn="l">
              <a:buNone/>
            </a:pPr>
            <a:r>
              <a:rPr lang="en-US" sz="14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que lo hagan.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Online Retail II  |  24 meses  |  1M+ transacciones  |  43 países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partida: ¿qué teníamos?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78408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3200400" cy="804672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54864" cy="804672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52728"/>
            <a:ext cx="30175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1.067.371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1609710"/>
            <a:ext cx="3017520" cy="30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registradas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3200400" cy="804672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075688"/>
            <a:ext cx="54864" cy="804672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85416"/>
            <a:ext cx="30175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5.942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94360" y="2542398"/>
            <a:ext cx="3017520" cy="30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únicos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008376"/>
            <a:ext cx="3200400" cy="804672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08376"/>
            <a:ext cx="54864" cy="80467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118104"/>
            <a:ext cx="30175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5.305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94360" y="3475086"/>
            <a:ext cx="3017520" cy="30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distintos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3200400" cy="804672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41064"/>
            <a:ext cx="54864" cy="804672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050792"/>
            <a:ext cx="30175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94360" y="4407774"/>
            <a:ext cx="3017520" cy="30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977640" y="1143000"/>
            <a:ext cx="4754880" cy="374904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60520" y="1234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limpieza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60520" y="1719072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60520" y="171907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67.242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19472" y="173736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eliminados (misma transacción registrada dos veces)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0520" y="2231136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60520" y="22311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19472" y="224942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Customer ID → compras de invitados. Se conservan marcados como grupo especial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60520" y="2743200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052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19472" y="276148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internos de inventario eliminados (sin precio ni cliente)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60520" y="3255264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60520" y="325526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19472" y="32735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tráfico proviene de UK → la variable país se excluye por falta de varianza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60520" y="3767328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60520" y="37673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19.102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19472" y="378561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devoluciones separadas → no se consideran ventas, pero sí influyen en el perfil del cliente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60520" y="4279392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60520" y="427939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facturas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19472" y="42976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volúmenes imposibles (+74.000 uds) eliminadas por ser netas cero o ajustes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sabe el modelo quién va a volver?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78408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70432"/>
            <a:ext cx="4663440" cy="11155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90472"/>
            <a:ext cx="438912" cy="438912"/>
          </a:xfrm>
          <a:prstGeom prst="ellipse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Resumimos el pasado de cada cliente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609344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24 meses de compras calculamos 5 indicadores por cliente: tiempo sin comprar, cuántas veces compró, cuánto gastó, con qué frecuencia y su tasa de devolución.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4663440" cy="11155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6928" y="2752344"/>
            <a:ext cx="438912" cy="438912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7523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 quién "volvió"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15568" y="2871216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Dividimos los datos en dos ventanas: los primeros 18 meses para aprender, los últimos 6 para comprobar. Si el cliente compró en esos últimos 6 meses → volvió (1). Si no → no volvió (0).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694176"/>
            <a:ext cx="4663440" cy="11155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4014216"/>
            <a:ext cx="438912" cy="438912"/>
          </a:xfrm>
          <a:prstGeom prst="ellipse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4014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15568" y="38039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aprendió el patrón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413308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esos datos, el algoritmo identificó qué combinación de indicadores distingue a un cliente que va a volver del que no. El resultado es una probabilidad entre 0 y 1 para cada cliente.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394960" y="11704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indicadores clave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94960" y="1627632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E260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94960" y="1627632"/>
            <a:ext cx="64008" cy="548640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59552" y="16824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59552" y="1920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sin comprar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394960" y="2295144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3ABFA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295144"/>
            <a:ext cx="64008" cy="54864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59552" y="23500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compras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5877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pedido históricas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94960" y="2962656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E2A0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94960" y="2962656"/>
            <a:ext cx="64008" cy="548640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59552" y="301752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total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59552" y="32552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acumulado (£)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94960" y="3630168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94960" y="3630168"/>
            <a:ext cx="64008" cy="5486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59552" y="36850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59552" y="392277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medios entre pedidos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94960" y="4297680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2D3C9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94960" y="4297680"/>
            <a:ext cx="64008" cy="54864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59552" y="43525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devolución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559552" y="45902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pedidos devueltos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modelo: resultados y capacidad predictiva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78408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2560320" cy="192024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92024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2091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46807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0.864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40080" y="22479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</a:t>
            </a: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90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5679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Probamos 3 optimizadores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(Random Search, Grid Search, Optuna)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4 algoritmos distintos.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5440680" cy="192024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29000" y="1234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significa AUC 0.872 en la práctica?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9000" y="1783080"/>
            <a:ext cx="685800" cy="310896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7830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2.0×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87952" y="18196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eficiente que contactar al azar en el top 10% de clientes (curva Lift)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429000" y="2212848"/>
            <a:ext cx="685800" cy="310896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21284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87952" y="22494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ventas futuras capturadas contactando a menos del 40% de la base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29000" y="2642616"/>
            <a:ext cx="685800" cy="310896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26426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52/48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87952" y="26791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perfecto entre compradores y no compradores — sin necesitar ajuste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3375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variable influye más en si un cliente vuelve?  (DALEX — importancia global)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7673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devolución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97480" y="3794760"/>
            <a:ext cx="4114800" cy="128016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76732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6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0080" y="396849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(días sin comprar)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97480" y="3995928"/>
            <a:ext cx="2424223" cy="128016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67423" y="39684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+0.119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" y="416966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compras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697480" y="4197096"/>
            <a:ext cx="1052623" cy="128016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5823" y="41696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+0.065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43708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total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697480" y="4398264"/>
            <a:ext cx="701749" cy="128016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44949" y="43708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+0.017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" y="4572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697480" y="4599432"/>
            <a:ext cx="430619" cy="128016"/>
          </a:xfrm>
          <a:prstGeom prst="rect">
            <a:avLst/>
          </a:prstGeom>
          <a:solidFill>
            <a:srgbClr val="8A9BC4"/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73819" y="45720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263640" y="3730752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tasa de devolución y el tiempo</a:t>
            </a:r>
            <a:endParaRPr lang="en-US" sz="900" dirty="0"/>
          </a:p>
          <a:p>
            <a:pPr marL="0" indent="0" algn="l">
              <a:buNone/>
            </a:pPr>
            <a:r>
              <a:rPr lang="en-US" sz="9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comprar explican la mayoría</a:t>
            </a:r>
            <a:endParaRPr lang="en-US" sz="900" dirty="0"/>
          </a:p>
          <a:p>
            <a:pPr marL="0" indent="0" algn="l">
              <a:buNone/>
            </a:pPr>
            <a:r>
              <a:rPr lang="en-US" sz="9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predicción.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 de nuestra base de clientes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identifica 4 perfiles naturales + el grupo de compradores anónimos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E2A04A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89888"/>
            <a:ext cx="1627632" cy="109728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0976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9536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E2A04A">
              <a:alpha val="30000"/>
            </a:srgbClr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masiva y reciente.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de ingresos.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12848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3ABFA8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12848" y="1389888"/>
            <a:ext cx="1627632" cy="109728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06624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0662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258568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615184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3ABFA8">
              <a:alpha val="30000"/>
            </a:srgbClr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15184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58568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58568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2258568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tickets pero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espaciados.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968496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CADCFC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968496" y="1389888"/>
            <a:ext cx="1627632" cy="10972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62272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6227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014216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Indecisos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370832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CADCFC">
              <a:alpha val="3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70832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014216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14216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014216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Frecuentes pero con alta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devolución (36%).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724144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E2604B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24144" y="1389888"/>
            <a:ext cx="1627632" cy="109728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❄️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769864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Desconectados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26480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E2604B">
              <a:alpha val="30000"/>
            </a:srgbClr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6480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6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769864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769864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6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5769864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compra hace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9 meses.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79792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8A9BC4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479792" y="1389888"/>
            <a:ext cx="1627632" cy="109728"/>
          </a:xfrm>
          <a:prstGeom prst="rect">
            <a:avLst/>
          </a:prstGeom>
          <a:solidFill>
            <a:srgbClr val="8A9BC4"/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73568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7356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525512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Invitados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882128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8A9BC4">
              <a:alpha val="30000"/>
            </a:srgbClr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882128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525512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525512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525512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Compradores anónimos.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hacemos con cada segmento?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nos dice a quién priorizar — el clustering nos da el mensaje correcto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89888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89888"/>
            <a:ext cx="64008" cy="658368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1790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16152" y="14630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16152" y="1737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fidelización exclusivo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0" y="1572768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157276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App VIP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577840" y="148132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necesitan descuentos, necesitan trato preferente. El objetivo es maximizar su valor de vida.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130552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130552"/>
            <a:ext cx="64008" cy="658368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25856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16152" y="22037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16152" y="24780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Cupón de reactivación temporal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0" y="2313432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31343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Retargeting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577840" y="222199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Acortar el ciclo de compra. Son clientes sanos pero lentos — un empujón en el momento correcto.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2871216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871216"/>
            <a:ext cx="64008" cy="65836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99923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16152" y="29443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Indecisos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16152" y="321868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satisfacción + soporte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054096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0" y="30540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al cliente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77840" y="2962656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devoluciones son un coste oculto. Hay que sanear la relación antes de intentar vender más.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7200" y="3611880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611880"/>
            <a:ext cx="64008" cy="658368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739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❄️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16152" y="3685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6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Desconectados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16152" y="395935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 de última oportunidad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0" y="3794760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0" y="37947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Ads / Email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577840" y="370332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mínima. Solo vale la pena si el coste de recuperación es menor que el valor esperado.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4352544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4352544"/>
            <a:ext cx="64008" cy="658368"/>
          </a:xfrm>
          <a:prstGeom prst="rect">
            <a:avLst/>
          </a:prstGeom>
          <a:solidFill>
            <a:srgbClr val="8A9BC4"/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48056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216152" y="44256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216152" y="47000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 por registro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657600" y="4535424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 en el checkout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577840" y="444398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un anónimo en cliente identificado elimina el coste de captación futuro. 22% del tráfico.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243080"/>
          </a:solidFill>
          <a:ln w="12700">
            <a:solidFill>
              <a:srgbClr val="2430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0" y="0"/>
            <a:ext cx="64008" cy="5143500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conseguimos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155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 AUC 0.864 — sin sobreajuste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709928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6824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2.0× de eficiencia vs contacto aleatorio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276856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2494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segmentos con acción diferenciada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843784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816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de tráfico anónimo con acción específica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3410712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3383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 total variable por variable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4480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Proyecto: Online Retail II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Algoritmo: </a:t>
            </a:r>
            <a:r>
              <a:rPr lang="en-US" sz="80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AUC 0.864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94760" y="365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3794760" y="960120"/>
            <a:ext cx="512064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94760" y="1078992"/>
            <a:ext cx="5120640" cy="86868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760" y="1078992"/>
            <a:ext cx="64008" cy="86868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04488" y="11521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07408" y="1152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espacio de búsqueda de Optuna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04488" y="149961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más trials y rangos más amplios de hiperparámetros, Optuna puede superar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AUC 0.864,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podría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empeorar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tenido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AUC: 0.88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anteriores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trials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794760" y="2066544"/>
            <a:ext cx="5120640" cy="86868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94760" y="2066544"/>
            <a:ext cx="64008" cy="86868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04488" y="21396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07408" y="213969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la variable país con OHE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04488" y="248716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UK domina (84%), los clientes internacionales podrían tener patrones distintos. Probar el modelo con y sin OHE de país para ver el impacto real en AUC.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94760" y="3054096"/>
            <a:ext cx="5120640" cy="86868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94760" y="3054096"/>
            <a:ext cx="64008" cy="86868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04488" y="312724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07408" y="31272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forecasting de revenue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904488" y="3474720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variable revenue_mensual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 puede aplicar Prophet o ARIMA para predecir la demanda futura por periodos — útil para planificación de inventario y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24meses -&gt;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captar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estacionalidad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794760" y="4041648"/>
            <a:ext cx="5120640" cy="86868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4760" y="4041648"/>
            <a:ext cx="64008" cy="86868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04488" y="4114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07408" y="41148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final: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scoring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04488" y="446227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 el modelo en producción para generar una probabilidad de recompra por cliente cada mes de forma automática, integrándola con la herramienta de CRM.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931</Words>
  <Application>Microsoft Office PowerPoint</Application>
  <PresentationFormat>Presentación en pantalla (16:9)</PresentationFormat>
  <Paragraphs>170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Calibri</vt:lpstr>
      <vt:lpstr>Segoe UI Emoji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Predicción de Recompra — Online Retail II</dc:title>
  <dc:subject>PptxGenJS Presentation</dc:subject>
  <dc:creator>PptxGenJS</dc:creator>
  <cp:lastModifiedBy>Oscar Fraile</cp:lastModifiedBy>
  <cp:revision>4</cp:revision>
  <dcterms:created xsi:type="dcterms:W3CDTF">2026-03-26T11:10:01Z</dcterms:created>
  <dcterms:modified xsi:type="dcterms:W3CDTF">2026-03-26T15:41:50Z</dcterms:modified>
</cp:coreProperties>
</file>