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63" d="100"/>
          <a:sy n="163" d="100"/>
        </p:scale>
        <p:origin x="48" y="-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1225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4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E2A04A"/>
          </a:solidFill>
          <a:ln w="12700">
            <a:solidFill>
              <a:srgbClr val="E2A0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-1097280"/>
            <a:ext cx="5029200" cy="5029200"/>
          </a:xfrm>
          <a:prstGeom prst="ellipse">
            <a:avLst/>
          </a:prstGeom>
          <a:solidFill>
            <a:srgbClr val="2D3C9E">
              <a:alpha val="35000"/>
            </a:srgbClr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1828800"/>
            <a:ext cx="3200400" cy="3200400"/>
          </a:xfrm>
          <a:prstGeom prst="ellipse">
            <a:avLst/>
          </a:prstGeom>
          <a:solidFill>
            <a:srgbClr val="3ABFA8">
              <a:alpha val="20000"/>
            </a:srgbClr>
          </a:solidFill>
          <a:ln w="12700">
            <a:solidFill>
              <a:srgbClr val="3ABF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731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MACHINE LEARNING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de Recompra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48640" y="224028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Clientes en Retail Online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548640" y="3200400"/>
            <a:ext cx="3200400" cy="45720"/>
          </a:xfrm>
          <a:prstGeom prst="rect">
            <a:avLst/>
          </a:prstGeom>
          <a:solidFill>
            <a:srgbClr val="E2A04A"/>
          </a:solidFill>
          <a:ln w="12700">
            <a:solidFill>
              <a:srgbClr val="E2A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33832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modelo que identifica qué clientes van a volver —</a:t>
            </a:r>
            <a:endParaRPr lang="en-US" sz="1400" dirty="0"/>
          </a:p>
          <a:p>
            <a:pPr marL="0" indent="0" algn="l">
              <a:buNone/>
            </a:pPr>
            <a:r>
              <a:rPr lang="en-US" sz="1400" i="1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que lo hagan.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Online Retail II  |  24 meses  |  1M+ transacciones  |  43 países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24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punto de partida: ¿qué teníamos?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78408"/>
            <a:ext cx="8229600" cy="22860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43000"/>
            <a:ext cx="3200400" cy="804672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43000"/>
            <a:ext cx="54864" cy="804672"/>
          </a:xfrm>
          <a:prstGeom prst="rect">
            <a:avLst/>
          </a:prstGeom>
          <a:solidFill>
            <a:srgbClr val="3ABFA8"/>
          </a:solidFill>
          <a:ln w="12700">
            <a:solidFill>
              <a:srgbClr val="3ABF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252728"/>
            <a:ext cx="301752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1.067.371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94360" y="1609710"/>
            <a:ext cx="3017520" cy="30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transacciones registradas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075688"/>
            <a:ext cx="3200400" cy="804672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075688"/>
            <a:ext cx="54864" cy="804672"/>
          </a:xfrm>
          <a:prstGeom prst="rect">
            <a:avLst/>
          </a:prstGeom>
          <a:solidFill>
            <a:srgbClr val="E2A04A"/>
          </a:solidFill>
          <a:ln w="12700">
            <a:solidFill>
              <a:srgbClr val="E2A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185416"/>
            <a:ext cx="301752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5.942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94360" y="2542398"/>
            <a:ext cx="3017520" cy="30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únicos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008376"/>
            <a:ext cx="3200400" cy="804672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3008376"/>
            <a:ext cx="54864" cy="804672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118104"/>
            <a:ext cx="301752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5.305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594360" y="3475086"/>
            <a:ext cx="3017520" cy="30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 distintos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941064"/>
            <a:ext cx="3200400" cy="804672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941064"/>
            <a:ext cx="54864" cy="804672"/>
          </a:xfrm>
          <a:prstGeom prst="rect">
            <a:avLst/>
          </a:prstGeom>
          <a:solidFill>
            <a:srgbClr val="E2604B"/>
          </a:solidFill>
          <a:ln w="12700">
            <a:solidFill>
              <a:srgbClr val="E2604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050792"/>
            <a:ext cx="301752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594360" y="4407774"/>
            <a:ext cx="3017520" cy="30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países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977640" y="1143000"/>
            <a:ext cx="4754880" cy="3749040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160520" y="12344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limpieza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160520" y="1719072"/>
            <a:ext cx="685800" cy="329184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60520" y="171907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67.242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919472" y="173736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duplicados eliminados (misma transacción registrada dos veces)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60520" y="2231136"/>
            <a:ext cx="685800" cy="329184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60520" y="223113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22,1%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919472" y="2249424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Customer ID → compras de invitados. Se conservan marcados como grupo especial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160520" y="2743200"/>
            <a:ext cx="685800" cy="329184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60520" y="274320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3.393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919472" y="276148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internos de inventario eliminados (sin precio ni cliente)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160520" y="3255264"/>
            <a:ext cx="685800" cy="329184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60520" y="325526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919472" y="327355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tráfico proviene de UK → la variable país se excluye por falta de varianza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160520" y="3767328"/>
            <a:ext cx="685800" cy="329184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60520" y="376732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19.102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919472" y="3785616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devoluciones separadas → no se consideran ventas, pero sí influyen en el perfil del cliente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60520" y="4279392"/>
            <a:ext cx="685800" cy="329184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60520" y="427939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facturas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919472" y="429768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volúmenes imposibles (+74.000 uds) eliminadas por ser netas cero o ajustes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4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sabe el modelo quién va a volver?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78408"/>
            <a:ext cx="8229600" cy="22860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70432"/>
            <a:ext cx="4663440" cy="1115568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490472"/>
            <a:ext cx="438912" cy="438912"/>
          </a:xfrm>
          <a:prstGeom prst="ellipse">
            <a:avLst/>
          </a:prstGeom>
          <a:solidFill>
            <a:srgbClr val="3ABFA8"/>
          </a:solidFill>
          <a:ln w="12700">
            <a:solidFill>
              <a:srgbClr val="3ABF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904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15568" y="1280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Resumimos el pasado de cada cliente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15568" y="1609344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24 meses de compras calculamos 5 indicadores por cliente: tiempo sin comprar, cuántas veces compró, cuánto gastó, con qué frecuencia y su tasa de devolución.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4663440" cy="1115568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66928" y="2752344"/>
            <a:ext cx="438912" cy="438912"/>
          </a:xfrm>
          <a:prstGeom prst="ellipse">
            <a:avLst/>
          </a:prstGeom>
          <a:solidFill>
            <a:srgbClr val="E2A04A"/>
          </a:solidFill>
          <a:ln w="12700">
            <a:solidFill>
              <a:srgbClr val="E2A0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7523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15568" y="25420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Definimos quién "volvió"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15568" y="2871216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Dividimos los datos en dos ventanas: los primeros 18 meses para aprender, los últimos 6 para comprobar. Si el cliente compró en esos últimos 6 meses → volvió (1). Si no → no volvió (0).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3694176"/>
            <a:ext cx="4663440" cy="1115568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66928" y="4014216"/>
            <a:ext cx="438912" cy="438912"/>
          </a:xfrm>
          <a:prstGeom prst="ellipse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40142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15568" y="380390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aprendió el patrón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15568" y="4133088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esos datos, el algoritmo identificó qué combinación de indicadores distingue a un cliente que va a volver del que no. El resultado es una probabilidad entre 0 y 1 para cada cliente.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394960" y="117043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5 indicadores clave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394960" y="1627632"/>
            <a:ext cx="3383280" cy="548640"/>
          </a:xfrm>
          <a:prstGeom prst="rect">
            <a:avLst/>
          </a:prstGeom>
          <a:solidFill>
            <a:srgbClr val="243080"/>
          </a:solidFill>
          <a:ln w="19050">
            <a:solidFill>
              <a:srgbClr val="E2604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94960" y="1627632"/>
            <a:ext cx="64008" cy="548640"/>
          </a:xfrm>
          <a:prstGeom prst="rect">
            <a:avLst/>
          </a:prstGeom>
          <a:solidFill>
            <a:srgbClr val="E2604B"/>
          </a:solidFill>
          <a:ln w="12700">
            <a:solidFill>
              <a:srgbClr val="E2604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59552" y="16824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Recency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559552" y="19202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sin comprar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394960" y="2295144"/>
            <a:ext cx="3383280" cy="548640"/>
          </a:xfrm>
          <a:prstGeom prst="rect">
            <a:avLst/>
          </a:prstGeom>
          <a:solidFill>
            <a:srgbClr val="243080"/>
          </a:solidFill>
          <a:ln w="19050">
            <a:solidFill>
              <a:srgbClr val="3ABFA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94960" y="2295144"/>
            <a:ext cx="64008" cy="548640"/>
          </a:xfrm>
          <a:prstGeom prst="rect">
            <a:avLst/>
          </a:prstGeom>
          <a:solidFill>
            <a:srgbClr val="3ABFA8"/>
          </a:solidFill>
          <a:ln w="12700">
            <a:solidFill>
              <a:srgbClr val="3ABFA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59552" y="235000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de compras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559552" y="258775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Líneas de pedido históricas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394960" y="2962656"/>
            <a:ext cx="3383280" cy="548640"/>
          </a:xfrm>
          <a:prstGeom prst="rect">
            <a:avLst/>
          </a:prstGeom>
          <a:solidFill>
            <a:srgbClr val="243080"/>
          </a:solidFill>
          <a:ln w="19050">
            <a:solidFill>
              <a:srgbClr val="E2A04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94960" y="2962656"/>
            <a:ext cx="64008" cy="548640"/>
          </a:xfrm>
          <a:prstGeom prst="rect">
            <a:avLst/>
          </a:prstGeom>
          <a:solidFill>
            <a:srgbClr val="E2A04A"/>
          </a:solidFill>
          <a:ln w="12700">
            <a:solidFill>
              <a:srgbClr val="E2A0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59552" y="301752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total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559552" y="325526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acumulado (£)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394960" y="3630168"/>
            <a:ext cx="3383280" cy="548640"/>
          </a:xfrm>
          <a:prstGeom prst="rect">
            <a:avLst/>
          </a:prstGeom>
          <a:solidFill>
            <a:srgbClr val="243080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394960" y="3630168"/>
            <a:ext cx="64008" cy="54864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59552" y="368503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Cadencia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559552" y="392277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medios entre pedidos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394960" y="4297680"/>
            <a:ext cx="3383280" cy="548640"/>
          </a:xfrm>
          <a:prstGeom prst="rect">
            <a:avLst/>
          </a:prstGeom>
          <a:solidFill>
            <a:srgbClr val="243080"/>
          </a:solidFill>
          <a:ln w="19050">
            <a:solidFill>
              <a:srgbClr val="2D3C9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94960" y="4297680"/>
            <a:ext cx="64008" cy="548640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59552" y="435254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devolución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559552" y="459028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pedidos devueltos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24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modelo: resultados y capacidad predictiva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78408"/>
            <a:ext cx="8229600" cy="22860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43000"/>
            <a:ext cx="2560320" cy="1920240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43000"/>
            <a:ext cx="64008" cy="1920240"/>
          </a:xfrm>
          <a:prstGeom prst="rect">
            <a:avLst/>
          </a:prstGeom>
          <a:solidFill>
            <a:srgbClr val="3ABFA8"/>
          </a:solidFill>
          <a:ln w="12700">
            <a:solidFill>
              <a:srgbClr val="3ABF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182091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46807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3AB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0.864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640080" y="22479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Optuna</a:t>
            </a:r>
            <a:r>
              <a:rPr lang="en-US" sz="9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90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HistGradientBoosting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25679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Probamos 3 optimizadores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(Random Search, Grid Search, Optuna)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4 algoritmos distintos.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46120" y="1143000"/>
            <a:ext cx="5440680" cy="1920240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429000" y="12344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significa AUC 0.872 en la práctica?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29000" y="1783080"/>
            <a:ext cx="685800" cy="310896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78308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2.0×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87952" y="181965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eficiente que contactar al azar en el top 10% de clientes (curva Lift)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429000" y="2212848"/>
            <a:ext cx="685800" cy="310896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221284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87952" y="224942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ventas futuras capturadas contactando a menos del 40% de la base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429000" y="2642616"/>
            <a:ext cx="685800" cy="310896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29000" y="2642616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52/48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187952" y="26791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perfecto entre compradores y no compradores — sin necesitar ajuste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246120"/>
            <a:ext cx="8229600" cy="1600200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0080" y="33375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variable influye más en si un cliente vuelve?  (DALEX — importancia global)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376732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devolución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697480" y="3794760"/>
            <a:ext cx="4114800" cy="128016"/>
          </a:xfrm>
          <a:prstGeom prst="rect">
            <a:avLst/>
          </a:prstGeom>
          <a:solidFill>
            <a:srgbClr val="E2604B"/>
          </a:solidFill>
          <a:ln w="12700">
            <a:solidFill>
              <a:srgbClr val="E2604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0" y="376732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26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+0.210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40080" y="396849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Recency (días sin comprar)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697480" y="3995928"/>
            <a:ext cx="2424223" cy="128016"/>
          </a:xfrm>
          <a:prstGeom prst="rect">
            <a:avLst/>
          </a:prstGeom>
          <a:solidFill>
            <a:srgbClr val="E2A04A"/>
          </a:solidFill>
          <a:ln w="12700">
            <a:solidFill>
              <a:srgbClr val="E2A0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67423" y="396849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+0.119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40080" y="4169664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compras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697480" y="4197096"/>
            <a:ext cx="1052623" cy="128016"/>
          </a:xfrm>
          <a:prstGeom prst="rect">
            <a:avLst/>
          </a:prstGeom>
          <a:solidFill>
            <a:srgbClr val="3ABFA8"/>
          </a:solidFill>
          <a:ln w="12700">
            <a:solidFill>
              <a:srgbClr val="3ABFA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95823" y="41696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3AB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+0.065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40080" y="437083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total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697480" y="4398264"/>
            <a:ext cx="701749" cy="128016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44949" y="43708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+0.017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40080" y="4572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Cadencia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697480" y="4599432"/>
            <a:ext cx="430619" cy="128016"/>
          </a:xfrm>
          <a:prstGeom prst="rect">
            <a:avLst/>
          </a:prstGeom>
          <a:solidFill>
            <a:srgbClr val="8A9BC4"/>
          </a:solidFill>
          <a:ln w="12700">
            <a:solidFill>
              <a:srgbClr val="8A9B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173819" y="45720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+0.01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263640" y="3730752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tasa de devolución y el tiempo</a:t>
            </a:r>
            <a:endParaRPr lang="en-US" sz="900" dirty="0"/>
          </a:p>
          <a:p>
            <a:pPr marL="0" indent="0" algn="l">
              <a:buNone/>
            </a:pPr>
            <a:r>
              <a:rPr lang="en-US" sz="900" i="1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comprar explican la mayoría</a:t>
            </a:r>
            <a:endParaRPr lang="en-US" sz="900" dirty="0"/>
          </a:p>
          <a:p>
            <a:pPr marL="0" indent="0" algn="l">
              <a:buNone/>
            </a:pPr>
            <a:r>
              <a:rPr lang="en-US" sz="900" i="1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predicción.</a:t>
            </a:r>
            <a:endParaRPr lang="en-US" sz="900" dirty="0"/>
          </a:p>
        </p:txBody>
      </p:sp>
      <p:sp>
        <p:nvSpPr>
          <p:cNvPr id="41" name="Rectangle 3">
            <a:extLst>
              <a:ext uri="{FF2B5EF4-FFF2-40B4-BE49-F238E27FC236}">
                <a16:creationId xmlns:a16="http://schemas.microsoft.com/office/drawing/2014/main" id="{DB9CDF09-E18E-49CA-8429-4399CE11BC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rgbClr val="14181F"/>
                </a:solidFill>
                <a:effectLst/>
                <a:latin typeface="Anthropic Mono"/>
              </a:rPr>
              <a:t>HistGradientBoosting</a:t>
            </a:r>
            <a:r>
              <a:rPr kumimoji="0" lang="en-US" altLang="en-US" sz="3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4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Radiografía de nuestra base de clientes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identifica 4 perfiles naturales + el grupo de compradores anónimos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61872"/>
            <a:ext cx="8229600" cy="22860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89888"/>
            <a:ext cx="1627632" cy="3456432"/>
          </a:xfrm>
          <a:prstGeom prst="rect">
            <a:avLst/>
          </a:prstGeom>
          <a:solidFill>
            <a:srgbClr val="243080"/>
          </a:solidFill>
          <a:ln w="19050">
            <a:solidFill>
              <a:srgbClr val="E2A04A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89888"/>
            <a:ext cx="1627632" cy="109728"/>
          </a:xfrm>
          <a:prstGeom prst="rect">
            <a:avLst/>
          </a:prstGeom>
          <a:solidFill>
            <a:srgbClr val="E2A04A"/>
          </a:solidFill>
          <a:ln w="12700">
            <a:solidFill>
              <a:srgbClr val="E2A0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50976" y="1600200"/>
            <a:ext cx="640080" cy="640080"/>
          </a:xfrm>
          <a:prstGeom prst="ellipse">
            <a:avLst/>
          </a:prstGeom>
          <a:solidFill>
            <a:srgbClr val="2D3C9E"/>
          </a:solidFill>
          <a:ln w="12700">
            <a:solidFill>
              <a:srgbClr val="E2A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0976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⭐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" y="237744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VIPs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59536" y="2788920"/>
            <a:ext cx="822960" cy="274320"/>
          </a:xfrm>
          <a:prstGeom prst="roundRect">
            <a:avLst>
              <a:gd name="adj" fmla="val 16667"/>
            </a:avLst>
          </a:prstGeom>
          <a:solidFill>
            <a:srgbClr val="E2A04A">
              <a:alpha val="30000"/>
            </a:srgbClr>
          </a:solidFill>
          <a:ln w="12700">
            <a:solidFill>
              <a:srgbClr val="E2A0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27889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3182112"/>
            <a:ext cx="1536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Prob. recompra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02920" y="3383280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2920" y="3931920"/>
            <a:ext cx="1536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 masiva y reciente.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de ingresos.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212848" y="1389888"/>
            <a:ext cx="1627632" cy="3456432"/>
          </a:xfrm>
          <a:prstGeom prst="rect">
            <a:avLst/>
          </a:prstGeom>
          <a:solidFill>
            <a:srgbClr val="243080"/>
          </a:solidFill>
          <a:ln w="19050">
            <a:solidFill>
              <a:srgbClr val="3ABFA8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212848" y="1389888"/>
            <a:ext cx="1627632" cy="109728"/>
          </a:xfrm>
          <a:prstGeom prst="rect">
            <a:avLst/>
          </a:prstGeom>
          <a:solidFill>
            <a:srgbClr val="3ABFA8"/>
          </a:solidFill>
          <a:ln w="12700">
            <a:solidFill>
              <a:srgbClr val="3ABFA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06624" y="1600200"/>
            <a:ext cx="640080" cy="640080"/>
          </a:xfrm>
          <a:prstGeom prst="ellipse">
            <a:avLst/>
          </a:prstGeom>
          <a:solidFill>
            <a:srgbClr val="2D3C9E"/>
          </a:solidFill>
          <a:ln w="12700">
            <a:solidFill>
              <a:srgbClr val="3ABF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06624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2258568" y="237744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615184" y="2788920"/>
            <a:ext cx="822960" cy="274320"/>
          </a:xfrm>
          <a:prstGeom prst="roundRect">
            <a:avLst>
              <a:gd name="adj" fmla="val 16667"/>
            </a:avLst>
          </a:prstGeom>
          <a:solidFill>
            <a:srgbClr val="3ABFA8">
              <a:alpha val="30000"/>
            </a:srgbClr>
          </a:solidFill>
          <a:ln w="12700">
            <a:solidFill>
              <a:srgbClr val="3ABF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15184" y="27889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AB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258568" y="3182112"/>
            <a:ext cx="1536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Prob. recompra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258568" y="3383280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AB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2258568" y="3931920"/>
            <a:ext cx="1536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Buenos tickets pero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espaciados.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968496" y="1389888"/>
            <a:ext cx="1627632" cy="3456432"/>
          </a:xfrm>
          <a:prstGeom prst="rect">
            <a:avLst/>
          </a:prstGeom>
          <a:solidFill>
            <a:srgbClr val="243080"/>
          </a:solidFill>
          <a:ln w="19050">
            <a:solidFill>
              <a:srgbClr val="CADCFC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968496" y="1389888"/>
            <a:ext cx="1627632" cy="10972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62272" y="1600200"/>
            <a:ext cx="640080" cy="640080"/>
          </a:xfrm>
          <a:prstGeom prst="ellipse">
            <a:avLst/>
          </a:prstGeom>
          <a:solidFill>
            <a:srgbClr val="2D3C9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62272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014216" y="237744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Indecisos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370832" y="2788920"/>
            <a:ext cx="822960" cy="274320"/>
          </a:xfrm>
          <a:prstGeom prst="roundRect">
            <a:avLst>
              <a:gd name="adj" fmla="val 16667"/>
            </a:avLst>
          </a:prstGeom>
          <a:solidFill>
            <a:srgbClr val="CADCFC">
              <a:alpha val="3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70832" y="27889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014216" y="3182112"/>
            <a:ext cx="1536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Prob. recompra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014216" y="3383280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49%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014216" y="3931920"/>
            <a:ext cx="1536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Frecuentes pero con alta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devolución (36%).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724144" y="1389888"/>
            <a:ext cx="1627632" cy="3456432"/>
          </a:xfrm>
          <a:prstGeom prst="rect">
            <a:avLst/>
          </a:prstGeom>
          <a:solidFill>
            <a:srgbClr val="243080"/>
          </a:solidFill>
          <a:ln w="19050">
            <a:solidFill>
              <a:srgbClr val="E2604B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724144" y="1389888"/>
            <a:ext cx="1627632" cy="109728"/>
          </a:xfrm>
          <a:prstGeom prst="rect">
            <a:avLst/>
          </a:prstGeom>
          <a:solidFill>
            <a:srgbClr val="E2604B"/>
          </a:solidFill>
          <a:ln w="12700">
            <a:solidFill>
              <a:srgbClr val="E2604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17920" y="1600200"/>
            <a:ext cx="640080" cy="640080"/>
          </a:xfrm>
          <a:prstGeom prst="ellipse">
            <a:avLst/>
          </a:prstGeom>
          <a:solidFill>
            <a:srgbClr val="2D3C9E"/>
          </a:solidFill>
          <a:ln w="12700">
            <a:solidFill>
              <a:srgbClr val="E2604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179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❄️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5769864" y="237744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Desconectados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26480" y="2788920"/>
            <a:ext cx="822960" cy="274320"/>
          </a:xfrm>
          <a:prstGeom prst="roundRect">
            <a:avLst>
              <a:gd name="adj" fmla="val 16667"/>
            </a:avLst>
          </a:prstGeom>
          <a:solidFill>
            <a:srgbClr val="E2604B">
              <a:alpha val="30000"/>
            </a:srgbClr>
          </a:solidFill>
          <a:ln w="12700">
            <a:solidFill>
              <a:srgbClr val="E2604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26480" y="27889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6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C0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769864" y="3182112"/>
            <a:ext cx="1536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Prob. recompra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769864" y="3383280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26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5769864" y="3931920"/>
            <a:ext cx="1536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compra hace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9 meses.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479792" y="1389888"/>
            <a:ext cx="1627632" cy="3456432"/>
          </a:xfrm>
          <a:prstGeom prst="rect">
            <a:avLst/>
          </a:prstGeom>
          <a:solidFill>
            <a:srgbClr val="243080"/>
          </a:solidFill>
          <a:ln w="19050">
            <a:solidFill>
              <a:srgbClr val="8A9BC4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7479792" y="1389888"/>
            <a:ext cx="1627632" cy="109728"/>
          </a:xfrm>
          <a:prstGeom prst="rect">
            <a:avLst/>
          </a:prstGeom>
          <a:solidFill>
            <a:srgbClr val="8A9BC4"/>
          </a:solidFill>
          <a:ln w="12700">
            <a:solidFill>
              <a:srgbClr val="8A9BC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73568" y="1600200"/>
            <a:ext cx="640080" cy="640080"/>
          </a:xfrm>
          <a:prstGeom prst="ellipse">
            <a:avLst/>
          </a:prstGeom>
          <a:solidFill>
            <a:srgbClr val="2D3C9E"/>
          </a:solidFill>
          <a:ln w="12700">
            <a:solidFill>
              <a:srgbClr val="8A9BC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973568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👤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7525512" y="237744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Invitados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7882128" y="2788920"/>
            <a:ext cx="822960" cy="274320"/>
          </a:xfrm>
          <a:prstGeom prst="roundRect">
            <a:avLst>
              <a:gd name="adj" fmla="val 16667"/>
            </a:avLst>
          </a:prstGeom>
          <a:solidFill>
            <a:srgbClr val="8A9BC4">
              <a:alpha val="30000"/>
            </a:srgbClr>
          </a:solidFill>
          <a:ln w="12700">
            <a:solidFill>
              <a:srgbClr val="8A9BC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882128" y="27889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525512" y="3182112"/>
            <a:ext cx="1536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Prob. recompra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7525512" y="3383280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2200" dirty="0"/>
          </a:p>
        </p:txBody>
      </p:sp>
      <p:sp>
        <p:nvSpPr>
          <p:cNvPr id="54" name="Text 52"/>
          <p:cNvSpPr/>
          <p:nvPr/>
        </p:nvSpPr>
        <p:spPr>
          <a:xfrm>
            <a:off x="7525512" y="3931920"/>
            <a:ext cx="15361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Compradores anónimos.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 de captación.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4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hacemos con cada segmento?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nos dice a quién priorizar — el clustering nos da el mensaje correcto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61872"/>
            <a:ext cx="8229600" cy="22860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89888"/>
            <a:ext cx="8229600" cy="658368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89888"/>
            <a:ext cx="64008" cy="658368"/>
          </a:xfrm>
          <a:prstGeom prst="rect">
            <a:avLst/>
          </a:prstGeom>
          <a:solidFill>
            <a:srgbClr val="E2A04A"/>
          </a:solidFill>
          <a:ln w="12700">
            <a:solidFill>
              <a:srgbClr val="E2A0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517904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⭐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16152" y="14630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VIPs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16152" y="173736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fidelización exclusivo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0" y="1572768"/>
            <a:ext cx="1783080" cy="292608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157276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/ App VIP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577840" y="1481328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necesitan descuentos, necesitan trato preferente. El objetivo es maximizar su valor de vida.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7200" y="2130552"/>
            <a:ext cx="8229600" cy="658368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130552"/>
            <a:ext cx="64008" cy="658368"/>
          </a:xfrm>
          <a:prstGeom prst="rect">
            <a:avLst/>
          </a:prstGeom>
          <a:solidFill>
            <a:srgbClr val="3ABFA8"/>
          </a:solidFill>
          <a:ln w="12700">
            <a:solidFill>
              <a:srgbClr val="3ABF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258568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⏳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16152" y="220370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AB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16152" y="247802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Cupón de reactivación temporal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0" y="2313432"/>
            <a:ext cx="1783080" cy="292608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0" y="231343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Retargeting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577840" y="2221992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Acortar el ciclo de compra. Son clientes sanos pero lentos — un empujón en el momento correcto.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2871216"/>
            <a:ext cx="8229600" cy="658368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871216"/>
            <a:ext cx="64008" cy="65836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2999232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🔄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216152" y="29443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Indecisos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16152" y="321868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 de satisfacción + soporte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0" y="3054096"/>
            <a:ext cx="1783080" cy="292608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0" y="30540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al cliente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577840" y="2962656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devoluciones son un coste oculto. Hay que sanear la relación antes de intentar vender más.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57200" y="3611880"/>
            <a:ext cx="8229600" cy="658368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57200" y="3611880"/>
            <a:ext cx="64008" cy="658368"/>
          </a:xfrm>
          <a:prstGeom prst="rect">
            <a:avLst/>
          </a:prstGeom>
          <a:solidFill>
            <a:srgbClr val="E2604B"/>
          </a:solidFill>
          <a:ln w="12700">
            <a:solidFill>
              <a:srgbClr val="E260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373989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❄️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16152" y="36850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6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Desconectados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16152" y="395935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Campaña de última oportunidad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657600" y="3794760"/>
            <a:ext cx="1783080" cy="292608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0" y="379476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Ads / Email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577840" y="3703320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Inversión mínima. Solo vale la pena si el coste de recuperación es menor que el valor esperado.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57200" y="4352544"/>
            <a:ext cx="8229600" cy="658368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57200" y="4352544"/>
            <a:ext cx="64008" cy="658368"/>
          </a:xfrm>
          <a:prstGeom prst="rect">
            <a:avLst/>
          </a:prstGeom>
          <a:solidFill>
            <a:srgbClr val="8A9BC4"/>
          </a:solidFill>
          <a:ln w="12700">
            <a:solidFill>
              <a:srgbClr val="8A9B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4480560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👤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216152" y="442569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Invitados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216152" y="470001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Descuento por registro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657600" y="4535424"/>
            <a:ext cx="1783080" cy="292608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0" y="453542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Pop-up en el checkout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577840" y="4443984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 un anónimo en cliente identificado elimina el coste de captación futuro. 22% del tráfico.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4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243080"/>
          </a:solidFill>
          <a:ln w="12700">
            <a:solidFill>
              <a:srgbClr val="2430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0" y="0"/>
            <a:ext cx="64008" cy="5143500"/>
          </a:xfrm>
          <a:prstGeom prst="rect">
            <a:avLst/>
          </a:prstGeom>
          <a:solidFill>
            <a:srgbClr val="E2A04A"/>
          </a:solidFill>
          <a:ln w="12700">
            <a:solidFill>
              <a:srgbClr val="E2A0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548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conseguimos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4320" y="1143000"/>
            <a:ext cx="201168" cy="201168"/>
          </a:xfrm>
          <a:prstGeom prst="ellipse">
            <a:avLst/>
          </a:prstGeom>
          <a:solidFill>
            <a:srgbClr val="E2A04A"/>
          </a:solidFill>
          <a:ln w="12700">
            <a:solidFill>
              <a:srgbClr val="E2A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1155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con AUC 0.864 — sin sobreajuste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709928"/>
            <a:ext cx="201168" cy="201168"/>
          </a:xfrm>
          <a:prstGeom prst="ellipse">
            <a:avLst/>
          </a:prstGeom>
          <a:solidFill>
            <a:srgbClr val="E2A04A"/>
          </a:solidFill>
          <a:ln w="12700">
            <a:solidFill>
              <a:srgbClr val="E2A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6824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2.0× de eficiencia vs contacto aleatorio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2276856"/>
            <a:ext cx="201168" cy="201168"/>
          </a:xfrm>
          <a:prstGeom prst="ellipse">
            <a:avLst/>
          </a:prstGeom>
          <a:solidFill>
            <a:srgbClr val="E2A04A"/>
          </a:solidFill>
          <a:ln w="12700">
            <a:solidFill>
              <a:srgbClr val="E2A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24942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segmentos con acción diferenciada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843784"/>
            <a:ext cx="201168" cy="201168"/>
          </a:xfrm>
          <a:prstGeom prst="ellipse">
            <a:avLst/>
          </a:prstGeom>
          <a:solidFill>
            <a:srgbClr val="E2A04A"/>
          </a:solidFill>
          <a:ln w="12700">
            <a:solidFill>
              <a:srgbClr val="E2A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8163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de tráfico anónimo con acción específica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3410712"/>
            <a:ext cx="201168" cy="201168"/>
          </a:xfrm>
          <a:prstGeom prst="ellipse">
            <a:avLst/>
          </a:prstGeom>
          <a:solidFill>
            <a:srgbClr val="E2A04A"/>
          </a:solidFill>
          <a:ln w="12700">
            <a:solidFill>
              <a:srgbClr val="E2A0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33832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Explicabilidad total variable por variable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74320" y="44805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Proyecto: Online Retail II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Algoritmo: </a:t>
            </a:r>
            <a:r>
              <a:rPr lang="en-US" sz="80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HistGradientBoosting</a:t>
            </a:r>
            <a:r>
              <a:rPr lang="en-US" sz="80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AUC 0.864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794760" y="3657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3794760" y="960120"/>
            <a:ext cx="5120640" cy="22860"/>
          </a:xfrm>
          <a:prstGeom prst="rect">
            <a:avLst/>
          </a:prstGeom>
          <a:solidFill>
            <a:srgbClr val="2D3C9E"/>
          </a:solidFill>
          <a:ln w="12700">
            <a:solidFill>
              <a:srgbClr val="2D3C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94760" y="1078992"/>
            <a:ext cx="5120640" cy="868680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760" y="1078992"/>
            <a:ext cx="64008" cy="868680"/>
          </a:xfrm>
          <a:prstGeom prst="rect">
            <a:avLst/>
          </a:prstGeom>
          <a:solidFill>
            <a:srgbClr val="3ABFA8"/>
          </a:solidFill>
          <a:ln w="12700">
            <a:solidFill>
              <a:srgbClr val="3ABFA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04488" y="115214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07408" y="11521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el espacio de búsqueda de Optuna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904488" y="1499616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más trials y rangos más amplios de hiperparámetros, Optuna puede superar </a:t>
            </a:r>
            <a:r>
              <a:rPr lang="en-US" sz="85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AUC 0.864, </a:t>
            </a:r>
            <a:r>
              <a:rPr lang="en-US" sz="85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aunque</a:t>
            </a: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5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podría</a:t>
            </a: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5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empeorar</a:t>
            </a: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85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</a:t>
            </a: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que </a:t>
            </a:r>
            <a:r>
              <a:rPr lang="en-US" sz="85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hemos</a:t>
            </a: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5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tenido</a:t>
            </a: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AUC: 0.88 </a:t>
            </a:r>
            <a:r>
              <a:rPr lang="en-US" sz="85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5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anteriores</a:t>
            </a: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trials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794760" y="2066544"/>
            <a:ext cx="5120640" cy="868680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94760" y="2066544"/>
            <a:ext cx="64008" cy="868680"/>
          </a:xfrm>
          <a:prstGeom prst="rect">
            <a:avLst/>
          </a:prstGeom>
          <a:solidFill>
            <a:srgbClr val="3ABFA8"/>
          </a:solidFill>
          <a:ln w="12700">
            <a:solidFill>
              <a:srgbClr val="3ABFA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04488" y="213969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407408" y="213969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Incorporar la variable país con OHE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904488" y="2487168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Aunque UK domina (84%), los clientes internacionales podrían tener patrones distintos. Probar el modelo con y sin OHE de país para ver el impacto real en AUC.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794760" y="3054096"/>
            <a:ext cx="5120640" cy="868680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94760" y="3054096"/>
            <a:ext cx="64008" cy="868680"/>
          </a:xfrm>
          <a:prstGeom prst="rect">
            <a:avLst/>
          </a:prstGeom>
          <a:solidFill>
            <a:srgbClr val="3ABFA8"/>
          </a:solidFill>
          <a:ln w="12700">
            <a:solidFill>
              <a:srgbClr val="3ABFA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04488" y="312724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407408" y="312724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forecasting de revenue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904488" y="3474720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la variable revenue_mensual </a:t>
            </a:r>
            <a:r>
              <a:rPr lang="en-US" sz="85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</a:t>
            </a: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5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construida</a:t>
            </a: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se puede aplicar Prophet o ARIMA para predecir la demanda futura por periodos — útil para planificación de inventario y </a:t>
            </a:r>
            <a:r>
              <a:rPr lang="en-US" sz="85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campañas</a:t>
            </a: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</a:p>
          <a:p>
            <a:pPr marL="0" indent="0" algn="l">
              <a:buNone/>
            </a:pP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24meses -&gt; </a:t>
            </a:r>
            <a:r>
              <a:rPr lang="en-US" sz="85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Pocos</a:t>
            </a: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5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</a:t>
            </a:r>
            <a:r>
              <a:rPr lang="en-US" sz="85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captar</a:t>
            </a: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50" dirty="0" err="1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estacionalidad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794760" y="4041648"/>
            <a:ext cx="5120640" cy="868680"/>
          </a:xfrm>
          <a:prstGeom prst="rect">
            <a:avLst/>
          </a:prstGeom>
          <a:solidFill>
            <a:srgbClr val="243080"/>
          </a:solidFill>
          <a:ln w="9525">
            <a:solidFill>
              <a:srgbClr val="2D3C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94760" y="4041648"/>
            <a:ext cx="64008" cy="868680"/>
          </a:xfrm>
          <a:prstGeom prst="rect">
            <a:avLst/>
          </a:prstGeom>
          <a:solidFill>
            <a:srgbClr val="3ABFA8"/>
          </a:solidFill>
          <a:ln w="12700">
            <a:solidFill>
              <a:srgbClr val="3ABFA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04488" y="4114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A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407408" y="41148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final: </a:t>
            </a:r>
            <a:r>
              <a:rPr lang="en-US" sz="11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scoring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904488" y="4462272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A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Poner el modelo en producción para generar una probabilidad de recompra por cliente cada mes de forma automática, integrándola con la herramienta de CRM.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932</Words>
  <Application>Microsoft Office PowerPoint</Application>
  <PresentationFormat>Presentación en pantalla (16:9)</PresentationFormat>
  <Paragraphs>171</Paragraphs>
  <Slides>7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2" baseType="lpstr">
      <vt:lpstr>Anthropic Mono</vt:lpstr>
      <vt:lpstr>Arial</vt:lpstr>
      <vt:lpstr>Calibri</vt:lpstr>
      <vt:lpstr>Segoe UI Emoji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Predicción de Recompra — Online Retail II</dc:title>
  <dc:subject>PptxGenJS Presentation</dc:subject>
  <dc:creator>PptxGenJS</dc:creator>
  <cp:lastModifiedBy>Oscar Fraile</cp:lastModifiedBy>
  <cp:revision>3</cp:revision>
  <dcterms:created xsi:type="dcterms:W3CDTF">2026-03-26T11:10:01Z</dcterms:created>
  <dcterms:modified xsi:type="dcterms:W3CDTF">2026-03-26T12:42:24Z</dcterms:modified>
</cp:coreProperties>
</file>